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1" d="100"/>
          <a:sy n="71" d="100"/>
        </p:scale>
        <p:origin x="1138"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8C657F-8ED5-4D97-AFE8-BA2CBEF8EAD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3F58241-D9B8-4F93-BD22-4C1540198C4F}">
      <dgm:prSet/>
      <dgm:spPr/>
      <dgm:t>
        <a:bodyPr/>
        <a:lstStyle/>
        <a:p>
          <a:pPr>
            <a:lnSpc>
              <a:spcPct val="100000"/>
            </a:lnSpc>
          </a:pPr>
          <a:r>
            <a:rPr lang="en-US" dirty="0">
              <a:solidFill>
                <a:srgbClr val="0070C0"/>
              </a:solidFill>
            </a:rPr>
            <a:t>O</a:t>
          </a:r>
          <a:r>
            <a:rPr lang="en-US" dirty="0"/>
            <a:t> - </a:t>
          </a:r>
          <a:r>
            <a:rPr lang="en-US" b="1" dirty="0"/>
            <a:t>Partially Observable</a:t>
          </a:r>
          <a:r>
            <a:rPr lang="en-US" dirty="0"/>
            <a:t>: The agent cannot see the entire parking lot at once; it only perceives what its sensors detect within a specific range.</a:t>
          </a:r>
        </a:p>
      </dgm:t>
    </dgm:pt>
    <dgm:pt modelId="{94911CC3-E1EE-4228-AD51-9154A8606ADE}" type="parTrans" cxnId="{FF748DDE-84C6-4F1B-AB98-A4D7C337F0D1}">
      <dgm:prSet/>
      <dgm:spPr/>
      <dgm:t>
        <a:bodyPr/>
        <a:lstStyle/>
        <a:p>
          <a:endParaRPr lang="en-US"/>
        </a:p>
      </dgm:t>
    </dgm:pt>
    <dgm:pt modelId="{3A8DD284-3504-4C47-A405-08DAF413C19D}" type="sibTrans" cxnId="{FF748DDE-84C6-4F1B-AB98-A4D7C337F0D1}">
      <dgm:prSet/>
      <dgm:spPr/>
      <dgm:t>
        <a:bodyPr/>
        <a:lstStyle/>
        <a:p>
          <a:pPr>
            <a:lnSpc>
              <a:spcPct val="100000"/>
            </a:lnSpc>
          </a:pPr>
          <a:endParaRPr lang="en-US"/>
        </a:p>
      </dgm:t>
    </dgm:pt>
    <dgm:pt modelId="{6378DAD9-DC97-494E-A675-0D8BB41E201B}">
      <dgm:prSet/>
      <dgm:spPr/>
      <dgm:t>
        <a:bodyPr/>
        <a:lstStyle/>
        <a:p>
          <a:pPr>
            <a:lnSpc>
              <a:spcPct val="100000"/>
            </a:lnSpc>
          </a:pPr>
          <a:r>
            <a:rPr lang="en-US" dirty="0">
              <a:solidFill>
                <a:srgbClr val="0070C0"/>
              </a:solidFill>
            </a:rPr>
            <a:t>D </a:t>
          </a:r>
          <a:r>
            <a:rPr lang="en-US" dirty="0"/>
            <a:t>- </a:t>
          </a:r>
          <a:r>
            <a:rPr lang="en-US" b="1" dirty="0"/>
            <a:t>Stochastic</a:t>
          </a:r>
          <a:r>
            <a:rPr lang="en-US" dirty="0"/>
            <a:t>: The environment is not 100% predictable. Other cars might move or pedestrians might cross unexpectedly.</a:t>
          </a:r>
        </a:p>
      </dgm:t>
    </dgm:pt>
    <dgm:pt modelId="{AE115C88-8C80-4938-9597-C2F6AAC5B5F5}" type="parTrans" cxnId="{EF9CA123-4514-4292-A376-27E875A19150}">
      <dgm:prSet/>
      <dgm:spPr/>
      <dgm:t>
        <a:bodyPr/>
        <a:lstStyle/>
        <a:p>
          <a:endParaRPr lang="en-US"/>
        </a:p>
      </dgm:t>
    </dgm:pt>
    <dgm:pt modelId="{336DDF77-51FD-4E97-840D-93D685D3113B}" type="sibTrans" cxnId="{EF9CA123-4514-4292-A376-27E875A19150}">
      <dgm:prSet/>
      <dgm:spPr/>
      <dgm:t>
        <a:bodyPr/>
        <a:lstStyle/>
        <a:p>
          <a:pPr>
            <a:lnSpc>
              <a:spcPct val="100000"/>
            </a:lnSpc>
          </a:pPr>
          <a:endParaRPr lang="en-US"/>
        </a:p>
      </dgm:t>
    </dgm:pt>
    <dgm:pt modelId="{A2C6C2A5-3294-42D8-BBE0-73C0F6E49D5B}">
      <dgm:prSet/>
      <dgm:spPr/>
      <dgm:t>
        <a:bodyPr/>
        <a:lstStyle/>
        <a:p>
          <a:pPr>
            <a:lnSpc>
              <a:spcPct val="100000"/>
            </a:lnSpc>
          </a:pPr>
          <a:r>
            <a:rPr lang="en-US" dirty="0">
              <a:solidFill>
                <a:srgbClr val="0070C0"/>
              </a:solidFill>
            </a:rPr>
            <a:t>E</a:t>
          </a:r>
          <a:r>
            <a:rPr lang="en-US" dirty="0"/>
            <a:t> - </a:t>
          </a:r>
          <a:r>
            <a:rPr lang="en-US" b="1" dirty="0"/>
            <a:t>Sequential</a:t>
          </a:r>
          <a:r>
            <a:rPr lang="en-US" dirty="0"/>
            <a:t>: Every movement (turning the wheel) affects the next state and position of the car. </a:t>
          </a:r>
        </a:p>
      </dgm:t>
    </dgm:pt>
    <dgm:pt modelId="{C4110A09-6C98-40A1-A13E-0521E0F0AC73}" type="parTrans" cxnId="{976AFC75-4086-4A2A-B356-CAB9333D76A0}">
      <dgm:prSet/>
      <dgm:spPr/>
      <dgm:t>
        <a:bodyPr/>
        <a:lstStyle/>
        <a:p>
          <a:endParaRPr lang="en-US"/>
        </a:p>
      </dgm:t>
    </dgm:pt>
    <dgm:pt modelId="{6379B99B-7F3D-4E20-A254-031F9EF8F843}" type="sibTrans" cxnId="{976AFC75-4086-4A2A-B356-CAB9333D76A0}">
      <dgm:prSet/>
      <dgm:spPr/>
      <dgm:t>
        <a:bodyPr/>
        <a:lstStyle/>
        <a:p>
          <a:pPr>
            <a:lnSpc>
              <a:spcPct val="100000"/>
            </a:lnSpc>
          </a:pPr>
          <a:endParaRPr lang="en-US"/>
        </a:p>
      </dgm:t>
    </dgm:pt>
    <dgm:pt modelId="{CD6B365E-5753-4D53-9F1D-E8CEB9283352}">
      <dgm:prSet/>
      <dgm:spPr/>
      <dgm:t>
        <a:bodyPr/>
        <a:lstStyle/>
        <a:p>
          <a:pPr>
            <a:lnSpc>
              <a:spcPct val="100000"/>
            </a:lnSpc>
          </a:pPr>
          <a:r>
            <a:rPr lang="en-US" dirty="0">
              <a:solidFill>
                <a:srgbClr val="0070C0"/>
              </a:solidFill>
            </a:rPr>
            <a:t>S</a:t>
          </a:r>
          <a:r>
            <a:rPr lang="en-US" dirty="0"/>
            <a:t> - </a:t>
          </a:r>
          <a:r>
            <a:rPr lang="en-US" b="1" dirty="0"/>
            <a:t>Dynamic</a:t>
          </a:r>
          <a:r>
            <a:rPr lang="en-US" dirty="0"/>
            <a:t>: The environment changes (moving objects) while the agent is deliberating or moving.</a:t>
          </a:r>
        </a:p>
      </dgm:t>
    </dgm:pt>
    <dgm:pt modelId="{91B789E9-261E-446D-8190-855259B368B5}" type="parTrans" cxnId="{17E3B9BB-94A2-41DB-A3F8-9A1FC771FF0C}">
      <dgm:prSet/>
      <dgm:spPr/>
      <dgm:t>
        <a:bodyPr/>
        <a:lstStyle/>
        <a:p>
          <a:endParaRPr lang="en-US"/>
        </a:p>
      </dgm:t>
    </dgm:pt>
    <dgm:pt modelId="{96CB11B2-B21A-41E0-86D0-0E5EDF1F9B30}" type="sibTrans" cxnId="{17E3B9BB-94A2-41DB-A3F8-9A1FC771FF0C}">
      <dgm:prSet/>
      <dgm:spPr/>
      <dgm:t>
        <a:bodyPr/>
        <a:lstStyle/>
        <a:p>
          <a:pPr>
            <a:lnSpc>
              <a:spcPct val="100000"/>
            </a:lnSpc>
          </a:pPr>
          <a:endParaRPr lang="en-US"/>
        </a:p>
      </dgm:t>
    </dgm:pt>
    <dgm:pt modelId="{D7D2D6D6-47F4-4CB3-B6F0-404D7B97AACD}">
      <dgm:prSet/>
      <dgm:spPr/>
      <dgm:t>
        <a:bodyPr/>
        <a:lstStyle/>
        <a:p>
          <a:pPr>
            <a:lnSpc>
              <a:spcPct val="100000"/>
            </a:lnSpc>
          </a:pPr>
          <a:r>
            <a:rPr lang="en-US" dirty="0">
              <a:solidFill>
                <a:srgbClr val="0070C0"/>
              </a:solidFill>
            </a:rPr>
            <a:t>A</a:t>
          </a:r>
          <a:r>
            <a:rPr lang="en-US" dirty="0"/>
            <a:t> - </a:t>
          </a:r>
          <a:r>
            <a:rPr lang="en-US" b="1" dirty="0"/>
            <a:t>Single/Multi-Agent</a:t>
          </a:r>
          <a:r>
            <a:rPr lang="en-US" dirty="0"/>
            <a:t>: Usually Single Agent (focusing on one car's logic), but can be Multi-Agent if other smart cars are interacting in the same space.</a:t>
          </a:r>
        </a:p>
      </dgm:t>
    </dgm:pt>
    <dgm:pt modelId="{078474B8-E674-4A9F-9914-4B13ADA767E9}" type="parTrans" cxnId="{9E188899-1BC4-44A6-B168-22BBC945FF7B}">
      <dgm:prSet/>
      <dgm:spPr/>
      <dgm:t>
        <a:bodyPr/>
        <a:lstStyle/>
        <a:p>
          <a:endParaRPr lang="en-US"/>
        </a:p>
      </dgm:t>
    </dgm:pt>
    <dgm:pt modelId="{0BE75394-D02D-48A8-B5A6-62118F2FB460}" type="sibTrans" cxnId="{9E188899-1BC4-44A6-B168-22BBC945FF7B}">
      <dgm:prSet/>
      <dgm:spPr/>
      <dgm:t>
        <a:bodyPr/>
        <a:lstStyle/>
        <a:p>
          <a:endParaRPr lang="en-US"/>
        </a:p>
      </dgm:t>
    </dgm:pt>
    <dgm:pt modelId="{FB76BB94-8507-4ED4-B589-2BD82A3D112A}" type="pres">
      <dgm:prSet presAssocID="{D28C657F-8ED5-4D97-AFE8-BA2CBEF8EAD3}" presName="root" presStyleCnt="0">
        <dgm:presLayoutVars>
          <dgm:dir/>
          <dgm:resizeHandles val="exact"/>
        </dgm:presLayoutVars>
      </dgm:prSet>
      <dgm:spPr/>
    </dgm:pt>
    <dgm:pt modelId="{1CEF97B4-0EDF-47DA-89FC-D436B8E751C9}" type="pres">
      <dgm:prSet presAssocID="{D28C657F-8ED5-4D97-AFE8-BA2CBEF8EAD3}" presName="container" presStyleCnt="0">
        <dgm:presLayoutVars>
          <dgm:dir/>
          <dgm:resizeHandles val="exact"/>
        </dgm:presLayoutVars>
      </dgm:prSet>
      <dgm:spPr/>
    </dgm:pt>
    <dgm:pt modelId="{DDEBFED6-F6AD-45F7-94ED-75400BC849C8}" type="pres">
      <dgm:prSet presAssocID="{D3F58241-D9B8-4F93-BD22-4C1540198C4F}" presName="compNode" presStyleCnt="0"/>
      <dgm:spPr/>
    </dgm:pt>
    <dgm:pt modelId="{4A5D8A67-CC2C-4A26-AEA8-5169DBED841B}" type="pres">
      <dgm:prSet presAssocID="{D3F58241-D9B8-4F93-BD22-4C1540198C4F}" presName="iconBgRect" presStyleLbl="bgShp" presStyleIdx="0" presStyleCnt="5"/>
      <dgm:spPr/>
    </dgm:pt>
    <dgm:pt modelId="{F22CAF7C-4937-4B8C-8A27-1CF36C1625A0}" type="pres">
      <dgm:prSet presAssocID="{D3F58241-D9B8-4F93-BD22-4C1540198C4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ye"/>
        </a:ext>
      </dgm:extLst>
    </dgm:pt>
    <dgm:pt modelId="{416304E4-CA59-4FD3-99AF-FBC520D96771}" type="pres">
      <dgm:prSet presAssocID="{D3F58241-D9B8-4F93-BD22-4C1540198C4F}" presName="spaceRect" presStyleCnt="0"/>
      <dgm:spPr/>
    </dgm:pt>
    <dgm:pt modelId="{08B35566-9BE1-45DB-8A92-395EC9027599}" type="pres">
      <dgm:prSet presAssocID="{D3F58241-D9B8-4F93-BD22-4C1540198C4F}" presName="textRect" presStyleLbl="revTx" presStyleIdx="0" presStyleCnt="5">
        <dgm:presLayoutVars>
          <dgm:chMax val="1"/>
          <dgm:chPref val="1"/>
        </dgm:presLayoutVars>
      </dgm:prSet>
      <dgm:spPr/>
    </dgm:pt>
    <dgm:pt modelId="{F4A0D32C-6B37-4BA1-A0D5-CD459A079378}" type="pres">
      <dgm:prSet presAssocID="{3A8DD284-3504-4C47-A405-08DAF413C19D}" presName="sibTrans" presStyleLbl="sibTrans2D1" presStyleIdx="0" presStyleCnt="0"/>
      <dgm:spPr/>
    </dgm:pt>
    <dgm:pt modelId="{3CB9E2DB-602E-4BB6-8202-02F851F392A5}" type="pres">
      <dgm:prSet presAssocID="{6378DAD9-DC97-494E-A675-0D8BB41E201B}" presName="compNode" presStyleCnt="0"/>
      <dgm:spPr/>
    </dgm:pt>
    <dgm:pt modelId="{6A574374-7C89-4991-949E-DD4396D59806}" type="pres">
      <dgm:prSet presAssocID="{6378DAD9-DC97-494E-A675-0D8BB41E201B}" presName="iconBgRect" presStyleLbl="bgShp" presStyleIdx="1" presStyleCnt="5"/>
      <dgm:spPr/>
    </dgm:pt>
    <dgm:pt modelId="{B6020434-159C-4A2D-BB68-B5F9FFB0CD7D}" type="pres">
      <dgm:prSet presAssocID="{6378DAD9-DC97-494E-A675-0D8BB41E201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torcycle"/>
        </a:ext>
      </dgm:extLst>
    </dgm:pt>
    <dgm:pt modelId="{8BB4A446-0B8E-428E-A106-7F8C3960B1A0}" type="pres">
      <dgm:prSet presAssocID="{6378DAD9-DC97-494E-A675-0D8BB41E201B}" presName="spaceRect" presStyleCnt="0"/>
      <dgm:spPr/>
    </dgm:pt>
    <dgm:pt modelId="{2C64C8D8-79BD-4172-BA5D-848CC093E046}" type="pres">
      <dgm:prSet presAssocID="{6378DAD9-DC97-494E-A675-0D8BB41E201B}" presName="textRect" presStyleLbl="revTx" presStyleIdx="1" presStyleCnt="5">
        <dgm:presLayoutVars>
          <dgm:chMax val="1"/>
          <dgm:chPref val="1"/>
        </dgm:presLayoutVars>
      </dgm:prSet>
      <dgm:spPr/>
    </dgm:pt>
    <dgm:pt modelId="{6CB68491-D7DE-45EA-8284-CA303EA7BDC8}" type="pres">
      <dgm:prSet presAssocID="{336DDF77-51FD-4E97-840D-93D685D3113B}" presName="sibTrans" presStyleLbl="sibTrans2D1" presStyleIdx="0" presStyleCnt="0"/>
      <dgm:spPr/>
    </dgm:pt>
    <dgm:pt modelId="{FBA56B50-8CCD-46C6-9725-023E821BF7C7}" type="pres">
      <dgm:prSet presAssocID="{A2C6C2A5-3294-42D8-BBE0-73C0F6E49D5B}" presName="compNode" presStyleCnt="0"/>
      <dgm:spPr/>
    </dgm:pt>
    <dgm:pt modelId="{2560698E-B0EE-4207-97E4-E1BE5C382664}" type="pres">
      <dgm:prSet presAssocID="{A2C6C2A5-3294-42D8-BBE0-73C0F6E49D5B}" presName="iconBgRect" presStyleLbl="bgShp" presStyleIdx="2" presStyleCnt="5"/>
      <dgm:spPr/>
    </dgm:pt>
    <dgm:pt modelId="{2E45B100-02EB-4EFC-B4C6-EB7AE2F94DDC}" type="pres">
      <dgm:prSet presAssocID="{A2C6C2A5-3294-42D8-BBE0-73C0F6E49D5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ircles with Arrows"/>
        </a:ext>
      </dgm:extLst>
    </dgm:pt>
    <dgm:pt modelId="{3CFEF548-6B83-4E96-B6D5-2881F087F499}" type="pres">
      <dgm:prSet presAssocID="{A2C6C2A5-3294-42D8-BBE0-73C0F6E49D5B}" presName="spaceRect" presStyleCnt="0"/>
      <dgm:spPr/>
    </dgm:pt>
    <dgm:pt modelId="{D1E83CF8-A6C8-41B3-B9C3-86290FF92A7F}" type="pres">
      <dgm:prSet presAssocID="{A2C6C2A5-3294-42D8-BBE0-73C0F6E49D5B}" presName="textRect" presStyleLbl="revTx" presStyleIdx="2" presStyleCnt="5">
        <dgm:presLayoutVars>
          <dgm:chMax val="1"/>
          <dgm:chPref val="1"/>
        </dgm:presLayoutVars>
      </dgm:prSet>
      <dgm:spPr/>
    </dgm:pt>
    <dgm:pt modelId="{04752D6D-3E81-427A-A849-6AFC2C4B1863}" type="pres">
      <dgm:prSet presAssocID="{6379B99B-7F3D-4E20-A254-031F9EF8F843}" presName="sibTrans" presStyleLbl="sibTrans2D1" presStyleIdx="0" presStyleCnt="0"/>
      <dgm:spPr/>
    </dgm:pt>
    <dgm:pt modelId="{70B68B3F-F297-4A69-975D-A63BC1E3D7CC}" type="pres">
      <dgm:prSet presAssocID="{CD6B365E-5753-4D53-9F1D-E8CEB9283352}" presName="compNode" presStyleCnt="0"/>
      <dgm:spPr/>
    </dgm:pt>
    <dgm:pt modelId="{D1CA0F03-F9DD-4E76-B2F9-C7A5D721B85A}" type="pres">
      <dgm:prSet presAssocID="{CD6B365E-5753-4D53-9F1D-E8CEB9283352}" presName="iconBgRect" presStyleLbl="bgShp" presStyleIdx="3" presStyleCnt="5"/>
      <dgm:spPr/>
    </dgm:pt>
    <dgm:pt modelId="{510B34EF-91BD-442D-AA69-0AAEABF2ECE8}" type="pres">
      <dgm:prSet presAssocID="{CD6B365E-5753-4D53-9F1D-E8CEB928335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ar"/>
        </a:ext>
      </dgm:extLst>
    </dgm:pt>
    <dgm:pt modelId="{8FA87172-58E8-4611-9050-B8060F4D1260}" type="pres">
      <dgm:prSet presAssocID="{CD6B365E-5753-4D53-9F1D-E8CEB9283352}" presName="spaceRect" presStyleCnt="0"/>
      <dgm:spPr/>
    </dgm:pt>
    <dgm:pt modelId="{28F02126-6B9D-45A7-BBC2-B519F6E8F055}" type="pres">
      <dgm:prSet presAssocID="{CD6B365E-5753-4D53-9F1D-E8CEB9283352}" presName="textRect" presStyleLbl="revTx" presStyleIdx="3" presStyleCnt="5">
        <dgm:presLayoutVars>
          <dgm:chMax val="1"/>
          <dgm:chPref val="1"/>
        </dgm:presLayoutVars>
      </dgm:prSet>
      <dgm:spPr/>
    </dgm:pt>
    <dgm:pt modelId="{59987479-E96E-442A-8097-612EC5D357A3}" type="pres">
      <dgm:prSet presAssocID="{96CB11B2-B21A-41E0-86D0-0E5EDF1F9B30}" presName="sibTrans" presStyleLbl="sibTrans2D1" presStyleIdx="0" presStyleCnt="0"/>
      <dgm:spPr/>
    </dgm:pt>
    <dgm:pt modelId="{45084538-500D-41DF-B6B0-C1B7A53B0410}" type="pres">
      <dgm:prSet presAssocID="{D7D2D6D6-47F4-4CB3-B6F0-404D7B97AACD}" presName="compNode" presStyleCnt="0"/>
      <dgm:spPr/>
    </dgm:pt>
    <dgm:pt modelId="{A9E5FDF5-0710-42FC-92F4-420EEA6D864E}" type="pres">
      <dgm:prSet presAssocID="{D7D2D6D6-47F4-4CB3-B6F0-404D7B97AACD}" presName="iconBgRect" presStyleLbl="bgShp" presStyleIdx="4" presStyleCnt="5"/>
      <dgm:spPr/>
    </dgm:pt>
    <dgm:pt modelId="{473FCF2B-3D43-46BF-BF85-E7DC1E297C93}" type="pres">
      <dgm:prSet presAssocID="{D7D2D6D6-47F4-4CB3-B6F0-404D7B97AAC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Robot"/>
        </a:ext>
      </dgm:extLst>
    </dgm:pt>
    <dgm:pt modelId="{E97E5F2D-A4F0-44DB-8041-E7F01573CF3C}" type="pres">
      <dgm:prSet presAssocID="{D7D2D6D6-47F4-4CB3-B6F0-404D7B97AACD}" presName="spaceRect" presStyleCnt="0"/>
      <dgm:spPr/>
    </dgm:pt>
    <dgm:pt modelId="{545F70EE-2520-4A33-A8DF-B6426F3C3CBC}" type="pres">
      <dgm:prSet presAssocID="{D7D2D6D6-47F4-4CB3-B6F0-404D7B97AACD}" presName="textRect" presStyleLbl="revTx" presStyleIdx="4" presStyleCnt="5">
        <dgm:presLayoutVars>
          <dgm:chMax val="1"/>
          <dgm:chPref val="1"/>
        </dgm:presLayoutVars>
      </dgm:prSet>
      <dgm:spPr/>
    </dgm:pt>
  </dgm:ptLst>
  <dgm:cxnLst>
    <dgm:cxn modelId="{BB0FD018-922D-4464-B1E0-319F4727A8E1}" type="presOf" srcId="{96CB11B2-B21A-41E0-86D0-0E5EDF1F9B30}" destId="{59987479-E96E-442A-8097-612EC5D357A3}" srcOrd="0" destOrd="0" presId="urn:microsoft.com/office/officeart/2018/2/layout/IconCircleList"/>
    <dgm:cxn modelId="{8A82D11D-5B34-4AD1-8A93-3A98CA980F3A}" type="presOf" srcId="{A2C6C2A5-3294-42D8-BBE0-73C0F6E49D5B}" destId="{D1E83CF8-A6C8-41B3-B9C3-86290FF92A7F}" srcOrd="0" destOrd="0" presId="urn:microsoft.com/office/officeart/2018/2/layout/IconCircleList"/>
    <dgm:cxn modelId="{EF9CA123-4514-4292-A376-27E875A19150}" srcId="{D28C657F-8ED5-4D97-AFE8-BA2CBEF8EAD3}" destId="{6378DAD9-DC97-494E-A675-0D8BB41E201B}" srcOrd="1" destOrd="0" parTransId="{AE115C88-8C80-4938-9597-C2F6AAC5B5F5}" sibTransId="{336DDF77-51FD-4E97-840D-93D685D3113B}"/>
    <dgm:cxn modelId="{9082C72C-327B-42A6-8037-4D2A789BE0A7}" type="presOf" srcId="{D3F58241-D9B8-4F93-BD22-4C1540198C4F}" destId="{08B35566-9BE1-45DB-8A92-395EC9027599}" srcOrd="0" destOrd="0" presId="urn:microsoft.com/office/officeart/2018/2/layout/IconCircleList"/>
    <dgm:cxn modelId="{B37E6668-356E-4CAD-85A4-9C7F30B63967}" type="presOf" srcId="{CD6B365E-5753-4D53-9F1D-E8CEB9283352}" destId="{28F02126-6B9D-45A7-BBC2-B519F6E8F055}" srcOrd="0" destOrd="0" presId="urn:microsoft.com/office/officeart/2018/2/layout/IconCircleList"/>
    <dgm:cxn modelId="{976AFC75-4086-4A2A-B356-CAB9333D76A0}" srcId="{D28C657F-8ED5-4D97-AFE8-BA2CBEF8EAD3}" destId="{A2C6C2A5-3294-42D8-BBE0-73C0F6E49D5B}" srcOrd="2" destOrd="0" parTransId="{C4110A09-6C98-40A1-A13E-0521E0F0AC73}" sibTransId="{6379B99B-7F3D-4E20-A254-031F9EF8F843}"/>
    <dgm:cxn modelId="{B605B159-846B-48AD-811A-0D85E2DAC9D3}" type="presOf" srcId="{3A8DD284-3504-4C47-A405-08DAF413C19D}" destId="{F4A0D32C-6B37-4BA1-A0D5-CD459A079378}" srcOrd="0" destOrd="0" presId="urn:microsoft.com/office/officeart/2018/2/layout/IconCircleList"/>
    <dgm:cxn modelId="{FC9A6F82-3093-4D0D-9C15-9773429A5C7E}" type="presOf" srcId="{336DDF77-51FD-4E97-840D-93D685D3113B}" destId="{6CB68491-D7DE-45EA-8284-CA303EA7BDC8}" srcOrd="0" destOrd="0" presId="urn:microsoft.com/office/officeart/2018/2/layout/IconCircleList"/>
    <dgm:cxn modelId="{9E188899-1BC4-44A6-B168-22BBC945FF7B}" srcId="{D28C657F-8ED5-4D97-AFE8-BA2CBEF8EAD3}" destId="{D7D2D6D6-47F4-4CB3-B6F0-404D7B97AACD}" srcOrd="4" destOrd="0" parTransId="{078474B8-E674-4A9F-9914-4B13ADA767E9}" sibTransId="{0BE75394-D02D-48A8-B5A6-62118F2FB460}"/>
    <dgm:cxn modelId="{1CF538AA-EF97-42E3-855A-CABD52A9F526}" type="presOf" srcId="{D28C657F-8ED5-4D97-AFE8-BA2CBEF8EAD3}" destId="{FB76BB94-8507-4ED4-B589-2BD82A3D112A}" srcOrd="0" destOrd="0" presId="urn:microsoft.com/office/officeart/2018/2/layout/IconCircleList"/>
    <dgm:cxn modelId="{9B0648B0-79FC-4E4A-B7ED-F9F560308005}" type="presOf" srcId="{6378DAD9-DC97-494E-A675-0D8BB41E201B}" destId="{2C64C8D8-79BD-4172-BA5D-848CC093E046}" srcOrd="0" destOrd="0" presId="urn:microsoft.com/office/officeart/2018/2/layout/IconCircleList"/>
    <dgm:cxn modelId="{BAC43CB7-5927-49F6-B21C-B0A7DE6F4561}" type="presOf" srcId="{6379B99B-7F3D-4E20-A254-031F9EF8F843}" destId="{04752D6D-3E81-427A-A849-6AFC2C4B1863}" srcOrd="0" destOrd="0" presId="urn:microsoft.com/office/officeart/2018/2/layout/IconCircleList"/>
    <dgm:cxn modelId="{17E3B9BB-94A2-41DB-A3F8-9A1FC771FF0C}" srcId="{D28C657F-8ED5-4D97-AFE8-BA2CBEF8EAD3}" destId="{CD6B365E-5753-4D53-9F1D-E8CEB9283352}" srcOrd="3" destOrd="0" parTransId="{91B789E9-261E-446D-8190-855259B368B5}" sibTransId="{96CB11B2-B21A-41E0-86D0-0E5EDF1F9B30}"/>
    <dgm:cxn modelId="{976F6DD6-373E-4FBE-92D3-C91E38FFD0A6}" type="presOf" srcId="{D7D2D6D6-47F4-4CB3-B6F0-404D7B97AACD}" destId="{545F70EE-2520-4A33-A8DF-B6426F3C3CBC}" srcOrd="0" destOrd="0" presId="urn:microsoft.com/office/officeart/2018/2/layout/IconCircleList"/>
    <dgm:cxn modelId="{FF748DDE-84C6-4F1B-AB98-A4D7C337F0D1}" srcId="{D28C657F-8ED5-4D97-AFE8-BA2CBEF8EAD3}" destId="{D3F58241-D9B8-4F93-BD22-4C1540198C4F}" srcOrd="0" destOrd="0" parTransId="{94911CC3-E1EE-4228-AD51-9154A8606ADE}" sibTransId="{3A8DD284-3504-4C47-A405-08DAF413C19D}"/>
    <dgm:cxn modelId="{88569D13-62E0-4C2C-BB2C-936F116795D4}" type="presParOf" srcId="{FB76BB94-8507-4ED4-B589-2BD82A3D112A}" destId="{1CEF97B4-0EDF-47DA-89FC-D436B8E751C9}" srcOrd="0" destOrd="0" presId="urn:microsoft.com/office/officeart/2018/2/layout/IconCircleList"/>
    <dgm:cxn modelId="{B0067EE1-72A4-4213-BBCC-6F2B36B142BF}" type="presParOf" srcId="{1CEF97B4-0EDF-47DA-89FC-D436B8E751C9}" destId="{DDEBFED6-F6AD-45F7-94ED-75400BC849C8}" srcOrd="0" destOrd="0" presId="urn:microsoft.com/office/officeart/2018/2/layout/IconCircleList"/>
    <dgm:cxn modelId="{F245E952-1305-4FAF-9F43-C1E0575229B6}" type="presParOf" srcId="{DDEBFED6-F6AD-45F7-94ED-75400BC849C8}" destId="{4A5D8A67-CC2C-4A26-AEA8-5169DBED841B}" srcOrd="0" destOrd="0" presId="urn:microsoft.com/office/officeart/2018/2/layout/IconCircleList"/>
    <dgm:cxn modelId="{C8DDAD1E-3B90-428E-89F4-0FA613E901E2}" type="presParOf" srcId="{DDEBFED6-F6AD-45F7-94ED-75400BC849C8}" destId="{F22CAF7C-4937-4B8C-8A27-1CF36C1625A0}" srcOrd="1" destOrd="0" presId="urn:microsoft.com/office/officeart/2018/2/layout/IconCircleList"/>
    <dgm:cxn modelId="{BC9CE9E6-7626-4A9C-84BA-42F1EFF4C0FC}" type="presParOf" srcId="{DDEBFED6-F6AD-45F7-94ED-75400BC849C8}" destId="{416304E4-CA59-4FD3-99AF-FBC520D96771}" srcOrd="2" destOrd="0" presId="urn:microsoft.com/office/officeart/2018/2/layout/IconCircleList"/>
    <dgm:cxn modelId="{72AD4A77-2761-4A86-AEE9-653176640F6A}" type="presParOf" srcId="{DDEBFED6-F6AD-45F7-94ED-75400BC849C8}" destId="{08B35566-9BE1-45DB-8A92-395EC9027599}" srcOrd="3" destOrd="0" presId="urn:microsoft.com/office/officeart/2018/2/layout/IconCircleList"/>
    <dgm:cxn modelId="{5D97EB13-125D-4302-80D1-A0D3BEA68A1F}" type="presParOf" srcId="{1CEF97B4-0EDF-47DA-89FC-D436B8E751C9}" destId="{F4A0D32C-6B37-4BA1-A0D5-CD459A079378}" srcOrd="1" destOrd="0" presId="urn:microsoft.com/office/officeart/2018/2/layout/IconCircleList"/>
    <dgm:cxn modelId="{4F749A20-88A3-466A-A2BF-388D77E56C6D}" type="presParOf" srcId="{1CEF97B4-0EDF-47DA-89FC-D436B8E751C9}" destId="{3CB9E2DB-602E-4BB6-8202-02F851F392A5}" srcOrd="2" destOrd="0" presId="urn:microsoft.com/office/officeart/2018/2/layout/IconCircleList"/>
    <dgm:cxn modelId="{B981F61A-0E67-4AD9-8A44-83B41F5AC2AD}" type="presParOf" srcId="{3CB9E2DB-602E-4BB6-8202-02F851F392A5}" destId="{6A574374-7C89-4991-949E-DD4396D59806}" srcOrd="0" destOrd="0" presId="urn:microsoft.com/office/officeart/2018/2/layout/IconCircleList"/>
    <dgm:cxn modelId="{57C11CEF-6130-43D5-810A-652001A5EA9C}" type="presParOf" srcId="{3CB9E2DB-602E-4BB6-8202-02F851F392A5}" destId="{B6020434-159C-4A2D-BB68-B5F9FFB0CD7D}" srcOrd="1" destOrd="0" presId="urn:microsoft.com/office/officeart/2018/2/layout/IconCircleList"/>
    <dgm:cxn modelId="{838D2CA2-6B90-4730-98ED-2FA2855A1975}" type="presParOf" srcId="{3CB9E2DB-602E-4BB6-8202-02F851F392A5}" destId="{8BB4A446-0B8E-428E-A106-7F8C3960B1A0}" srcOrd="2" destOrd="0" presId="urn:microsoft.com/office/officeart/2018/2/layout/IconCircleList"/>
    <dgm:cxn modelId="{324DB7C9-976D-4CA0-BE8C-FC172B75C3A1}" type="presParOf" srcId="{3CB9E2DB-602E-4BB6-8202-02F851F392A5}" destId="{2C64C8D8-79BD-4172-BA5D-848CC093E046}" srcOrd="3" destOrd="0" presId="urn:microsoft.com/office/officeart/2018/2/layout/IconCircleList"/>
    <dgm:cxn modelId="{B4E688CF-DEF1-4591-B66E-2F3E5DB0CBA7}" type="presParOf" srcId="{1CEF97B4-0EDF-47DA-89FC-D436B8E751C9}" destId="{6CB68491-D7DE-45EA-8284-CA303EA7BDC8}" srcOrd="3" destOrd="0" presId="urn:microsoft.com/office/officeart/2018/2/layout/IconCircleList"/>
    <dgm:cxn modelId="{587D07C8-BB23-4863-ADCC-5426D6B58BF9}" type="presParOf" srcId="{1CEF97B4-0EDF-47DA-89FC-D436B8E751C9}" destId="{FBA56B50-8CCD-46C6-9725-023E821BF7C7}" srcOrd="4" destOrd="0" presId="urn:microsoft.com/office/officeart/2018/2/layout/IconCircleList"/>
    <dgm:cxn modelId="{A7C963FD-C8B8-4040-B4D5-B858E084D2C0}" type="presParOf" srcId="{FBA56B50-8CCD-46C6-9725-023E821BF7C7}" destId="{2560698E-B0EE-4207-97E4-E1BE5C382664}" srcOrd="0" destOrd="0" presId="urn:microsoft.com/office/officeart/2018/2/layout/IconCircleList"/>
    <dgm:cxn modelId="{8CDB16C1-1392-4440-9519-4777E7CAFF76}" type="presParOf" srcId="{FBA56B50-8CCD-46C6-9725-023E821BF7C7}" destId="{2E45B100-02EB-4EFC-B4C6-EB7AE2F94DDC}" srcOrd="1" destOrd="0" presId="urn:microsoft.com/office/officeart/2018/2/layout/IconCircleList"/>
    <dgm:cxn modelId="{68B6239E-3BB8-42EB-A0BB-3A5F1FF7B41F}" type="presParOf" srcId="{FBA56B50-8CCD-46C6-9725-023E821BF7C7}" destId="{3CFEF548-6B83-4E96-B6D5-2881F087F499}" srcOrd="2" destOrd="0" presId="urn:microsoft.com/office/officeart/2018/2/layout/IconCircleList"/>
    <dgm:cxn modelId="{06E2E4A8-2ED8-45FA-9456-00E0DA050007}" type="presParOf" srcId="{FBA56B50-8CCD-46C6-9725-023E821BF7C7}" destId="{D1E83CF8-A6C8-41B3-B9C3-86290FF92A7F}" srcOrd="3" destOrd="0" presId="urn:microsoft.com/office/officeart/2018/2/layout/IconCircleList"/>
    <dgm:cxn modelId="{912D75E4-F9AD-4BA7-A40C-97A45C858A72}" type="presParOf" srcId="{1CEF97B4-0EDF-47DA-89FC-D436B8E751C9}" destId="{04752D6D-3E81-427A-A849-6AFC2C4B1863}" srcOrd="5" destOrd="0" presId="urn:microsoft.com/office/officeart/2018/2/layout/IconCircleList"/>
    <dgm:cxn modelId="{0015C9A0-A243-48D8-9167-250C1FB2764F}" type="presParOf" srcId="{1CEF97B4-0EDF-47DA-89FC-D436B8E751C9}" destId="{70B68B3F-F297-4A69-975D-A63BC1E3D7CC}" srcOrd="6" destOrd="0" presId="urn:microsoft.com/office/officeart/2018/2/layout/IconCircleList"/>
    <dgm:cxn modelId="{8979D344-13C9-4F7C-8F31-CE1ABF208361}" type="presParOf" srcId="{70B68B3F-F297-4A69-975D-A63BC1E3D7CC}" destId="{D1CA0F03-F9DD-4E76-B2F9-C7A5D721B85A}" srcOrd="0" destOrd="0" presId="urn:microsoft.com/office/officeart/2018/2/layout/IconCircleList"/>
    <dgm:cxn modelId="{7C3DD6B7-AD15-4FE6-9164-7A1A70DD94C7}" type="presParOf" srcId="{70B68B3F-F297-4A69-975D-A63BC1E3D7CC}" destId="{510B34EF-91BD-442D-AA69-0AAEABF2ECE8}" srcOrd="1" destOrd="0" presId="urn:microsoft.com/office/officeart/2018/2/layout/IconCircleList"/>
    <dgm:cxn modelId="{86D0F938-6B39-4F73-AC0C-03B884CB9C7F}" type="presParOf" srcId="{70B68B3F-F297-4A69-975D-A63BC1E3D7CC}" destId="{8FA87172-58E8-4611-9050-B8060F4D1260}" srcOrd="2" destOrd="0" presId="urn:microsoft.com/office/officeart/2018/2/layout/IconCircleList"/>
    <dgm:cxn modelId="{F215F3AA-3899-406E-85A5-ACDFA4502F99}" type="presParOf" srcId="{70B68B3F-F297-4A69-975D-A63BC1E3D7CC}" destId="{28F02126-6B9D-45A7-BBC2-B519F6E8F055}" srcOrd="3" destOrd="0" presId="urn:microsoft.com/office/officeart/2018/2/layout/IconCircleList"/>
    <dgm:cxn modelId="{5EE52DCF-32E2-4723-B693-198BBD404710}" type="presParOf" srcId="{1CEF97B4-0EDF-47DA-89FC-D436B8E751C9}" destId="{59987479-E96E-442A-8097-612EC5D357A3}" srcOrd="7" destOrd="0" presId="urn:microsoft.com/office/officeart/2018/2/layout/IconCircleList"/>
    <dgm:cxn modelId="{F059D5C3-8DEC-40C6-83A0-0842CE071B69}" type="presParOf" srcId="{1CEF97B4-0EDF-47DA-89FC-D436B8E751C9}" destId="{45084538-500D-41DF-B6B0-C1B7A53B0410}" srcOrd="8" destOrd="0" presId="urn:microsoft.com/office/officeart/2018/2/layout/IconCircleList"/>
    <dgm:cxn modelId="{C0771E68-C3CD-481F-BBBE-98CF7AD41E84}" type="presParOf" srcId="{45084538-500D-41DF-B6B0-C1B7A53B0410}" destId="{A9E5FDF5-0710-42FC-92F4-420EEA6D864E}" srcOrd="0" destOrd="0" presId="urn:microsoft.com/office/officeart/2018/2/layout/IconCircleList"/>
    <dgm:cxn modelId="{21A755AC-C634-401E-B8CC-3493807C364B}" type="presParOf" srcId="{45084538-500D-41DF-B6B0-C1B7A53B0410}" destId="{473FCF2B-3D43-46BF-BF85-E7DC1E297C93}" srcOrd="1" destOrd="0" presId="urn:microsoft.com/office/officeart/2018/2/layout/IconCircleList"/>
    <dgm:cxn modelId="{4A881E9C-342B-4FCA-9089-98C6715367FA}" type="presParOf" srcId="{45084538-500D-41DF-B6B0-C1B7A53B0410}" destId="{E97E5F2D-A4F0-44DB-8041-E7F01573CF3C}" srcOrd="2" destOrd="0" presId="urn:microsoft.com/office/officeart/2018/2/layout/IconCircleList"/>
    <dgm:cxn modelId="{5A81801B-3E1C-47B6-9540-789899CB831C}" type="presParOf" srcId="{45084538-500D-41DF-B6B0-C1B7A53B0410}" destId="{545F70EE-2520-4A33-A8DF-B6426F3C3CBC}" srcOrd="3" destOrd="0" presId="urn:microsoft.com/office/officeart/2018/2/layout/IconCircle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5D8A67-CC2C-4A26-AEA8-5169DBED841B}">
      <dsp:nvSpPr>
        <dsp:cNvPr id="0" name=""/>
        <dsp:cNvSpPr/>
      </dsp:nvSpPr>
      <dsp:spPr>
        <a:xfrm>
          <a:off x="385508" y="364717"/>
          <a:ext cx="932806" cy="9328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2CAF7C-4937-4B8C-8A27-1CF36C1625A0}">
      <dsp:nvSpPr>
        <dsp:cNvPr id="0" name=""/>
        <dsp:cNvSpPr/>
      </dsp:nvSpPr>
      <dsp:spPr>
        <a:xfrm>
          <a:off x="581397" y="560606"/>
          <a:ext cx="541027" cy="5410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B35566-9BE1-45DB-8A92-395EC9027599}">
      <dsp:nvSpPr>
        <dsp:cNvPr id="0" name=""/>
        <dsp:cNvSpPr/>
      </dsp:nvSpPr>
      <dsp:spPr>
        <a:xfrm>
          <a:off x="1518201" y="364717"/>
          <a:ext cx="2198756" cy="932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solidFill>
                <a:srgbClr val="0070C0"/>
              </a:solidFill>
            </a:rPr>
            <a:t>O</a:t>
          </a:r>
          <a:r>
            <a:rPr lang="en-US" sz="1200" kern="1200" dirty="0"/>
            <a:t> - </a:t>
          </a:r>
          <a:r>
            <a:rPr lang="en-US" sz="1200" b="1" kern="1200" dirty="0"/>
            <a:t>Partially Observable</a:t>
          </a:r>
          <a:r>
            <a:rPr lang="en-US" sz="1200" kern="1200" dirty="0"/>
            <a:t>: The agent cannot see the entire parking lot at once; it only perceives what its sensors detect within a specific range.</a:t>
          </a:r>
        </a:p>
      </dsp:txBody>
      <dsp:txXfrm>
        <a:off x="1518201" y="364717"/>
        <a:ext cx="2198756" cy="932806"/>
      </dsp:txXfrm>
    </dsp:sp>
    <dsp:sp modelId="{6A574374-7C89-4991-949E-DD4396D59806}">
      <dsp:nvSpPr>
        <dsp:cNvPr id="0" name=""/>
        <dsp:cNvSpPr/>
      </dsp:nvSpPr>
      <dsp:spPr>
        <a:xfrm>
          <a:off x="4100074" y="364717"/>
          <a:ext cx="932806" cy="9328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020434-159C-4A2D-BB68-B5F9FFB0CD7D}">
      <dsp:nvSpPr>
        <dsp:cNvPr id="0" name=""/>
        <dsp:cNvSpPr/>
      </dsp:nvSpPr>
      <dsp:spPr>
        <a:xfrm>
          <a:off x="4295964" y="560606"/>
          <a:ext cx="541027" cy="5410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64C8D8-79BD-4172-BA5D-848CC093E046}">
      <dsp:nvSpPr>
        <dsp:cNvPr id="0" name=""/>
        <dsp:cNvSpPr/>
      </dsp:nvSpPr>
      <dsp:spPr>
        <a:xfrm>
          <a:off x="5232767" y="364717"/>
          <a:ext cx="2198756" cy="932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solidFill>
                <a:srgbClr val="0070C0"/>
              </a:solidFill>
            </a:rPr>
            <a:t>D </a:t>
          </a:r>
          <a:r>
            <a:rPr lang="en-US" sz="1200" kern="1200" dirty="0"/>
            <a:t>- </a:t>
          </a:r>
          <a:r>
            <a:rPr lang="en-US" sz="1200" b="1" kern="1200" dirty="0"/>
            <a:t>Stochastic</a:t>
          </a:r>
          <a:r>
            <a:rPr lang="en-US" sz="1200" kern="1200" dirty="0"/>
            <a:t>: The environment is not 100% predictable. Other cars might move or pedestrians might cross unexpectedly.</a:t>
          </a:r>
        </a:p>
      </dsp:txBody>
      <dsp:txXfrm>
        <a:off x="5232767" y="364717"/>
        <a:ext cx="2198756" cy="932806"/>
      </dsp:txXfrm>
    </dsp:sp>
    <dsp:sp modelId="{2560698E-B0EE-4207-97E4-E1BE5C382664}">
      <dsp:nvSpPr>
        <dsp:cNvPr id="0" name=""/>
        <dsp:cNvSpPr/>
      </dsp:nvSpPr>
      <dsp:spPr>
        <a:xfrm>
          <a:off x="7814641" y="364717"/>
          <a:ext cx="932806" cy="9328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45B100-02EB-4EFC-B4C6-EB7AE2F94DDC}">
      <dsp:nvSpPr>
        <dsp:cNvPr id="0" name=""/>
        <dsp:cNvSpPr/>
      </dsp:nvSpPr>
      <dsp:spPr>
        <a:xfrm>
          <a:off x="8010531" y="560606"/>
          <a:ext cx="541027" cy="5410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E83CF8-A6C8-41B3-B9C3-86290FF92A7F}">
      <dsp:nvSpPr>
        <dsp:cNvPr id="0" name=""/>
        <dsp:cNvSpPr/>
      </dsp:nvSpPr>
      <dsp:spPr>
        <a:xfrm>
          <a:off x="8947334" y="364717"/>
          <a:ext cx="2198756" cy="932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solidFill>
                <a:srgbClr val="0070C0"/>
              </a:solidFill>
            </a:rPr>
            <a:t>E</a:t>
          </a:r>
          <a:r>
            <a:rPr lang="en-US" sz="1200" kern="1200" dirty="0"/>
            <a:t> - </a:t>
          </a:r>
          <a:r>
            <a:rPr lang="en-US" sz="1200" b="1" kern="1200" dirty="0"/>
            <a:t>Sequential</a:t>
          </a:r>
          <a:r>
            <a:rPr lang="en-US" sz="1200" kern="1200" dirty="0"/>
            <a:t>: Every movement (turning the wheel) affects the next state and position of the car. </a:t>
          </a:r>
        </a:p>
      </dsp:txBody>
      <dsp:txXfrm>
        <a:off x="8947334" y="364717"/>
        <a:ext cx="2198756" cy="932806"/>
      </dsp:txXfrm>
    </dsp:sp>
    <dsp:sp modelId="{D1CA0F03-F9DD-4E76-B2F9-C7A5D721B85A}">
      <dsp:nvSpPr>
        <dsp:cNvPr id="0" name=""/>
        <dsp:cNvSpPr/>
      </dsp:nvSpPr>
      <dsp:spPr>
        <a:xfrm>
          <a:off x="385508" y="1829038"/>
          <a:ext cx="932806" cy="9328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0B34EF-91BD-442D-AA69-0AAEABF2ECE8}">
      <dsp:nvSpPr>
        <dsp:cNvPr id="0" name=""/>
        <dsp:cNvSpPr/>
      </dsp:nvSpPr>
      <dsp:spPr>
        <a:xfrm>
          <a:off x="581397" y="2024928"/>
          <a:ext cx="541027" cy="54102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F02126-6B9D-45A7-BBC2-B519F6E8F055}">
      <dsp:nvSpPr>
        <dsp:cNvPr id="0" name=""/>
        <dsp:cNvSpPr/>
      </dsp:nvSpPr>
      <dsp:spPr>
        <a:xfrm>
          <a:off x="1518201" y="1829038"/>
          <a:ext cx="2198756" cy="932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solidFill>
                <a:srgbClr val="0070C0"/>
              </a:solidFill>
            </a:rPr>
            <a:t>S</a:t>
          </a:r>
          <a:r>
            <a:rPr lang="en-US" sz="1200" kern="1200" dirty="0"/>
            <a:t> - </a:t>
          </a:r>
          <a:r>
            <a:rPr lang="en-US" sz="1200" b="1" kern="1200" dirty="0"/>
            <a:t>Dynamic</a:t>
          </a:r>
          <a:r>
            <a:rPr lang="en-US" sz="1200" kern="1200" dirty="0"/>
            <a:t>: The environment changes (moving objects) while the agent is deliberating or moving.</a:t>
          </a:r>
        </a:p>
      </dsp:txBody>
      <dsp:txXfrm>
        <a:off x="1518201" y="1829038"/>
        <a:ext cx="2198756" cy="932806"/>
      </dsp:txXfrm>
    </dsp:sp>
    <dsp:sp modelId="{A9E5FDF5-0710-42FC-92F4-420EEA6D864E}">
      <dsp:nvSpPr>
        <dsp:cNvPr id="0" name=""/>
        <dsp:cNvSpPr/>
      </dsp:nvSpPr>
      <dsp:spPr>
        <a:xfrm>
          <a:off x="4100074" y="1829038"/>
          <a:ext cx="932806" cy="9328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3FCF2B-3D43-46BF-BF85-E7DC1E297C93}">
      <dsp:nvSpPr>
        <dsp:cNvPr id="0" name=""/>
        <dsp:cNvSpPr/>
      </dsp:nvSpPr>
      <dsp:spPr>
        <a:xfrm>
          <a:off x="4295964" y="2024928"/>
          <a:ext cx="541027" cy="54102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5F70EE-2520-4A33-A8DF-B6426F3C3CBC}">
      <dsp:nvSpPr>
        <dsp:cNvPr id="0" name=""/>
        <dsp:cNvSpPr/>
      </dsp:nvSpPr>
      <dsp:spPr>
        <a:xfrm>
          <a:off x="5232767" y="1829038"/>
          <a:ext cx="2198756" cy="932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solidFill>
                <a:srgbClr val="0070C0"/>
              </a:solidFill>
            </a:rPr>
            <a:t>A</a:t>
          </a:r>
          <a:r>
            <a:rPr lang="en-US" sz="1200" kern="1200" dirty="0"/>
            <a:t> - </a:t>
          </a:r>
          <a:r>
            <a:rPr lang="en-US" sz="1200" b="1" kern="1200" dirty="0"/>
            <a:t>Single/Multi-Agent</a:t>
          </a:r>
          <a:r>
            <a:rPr lang="en-US" sz="1200" kern="1200" dirty="0"/>
            <a:t>: Usually Single Agent (focusing on one car's logic), but can be Multi-Agent if other smart cars are interacting in the same space.</a:t>
          </a:r>
        </a:p>
      </dsp:txBody>
      <dsp:txXfrm>
        <a:off x="5232767" y="1829038"/>
        <a:ext cx="2198756" cy="93280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1E350566-4F48-4884-AB71-0E016F83354A}" type="datetimeFigureOut">
              <a:rPr lang="ar-EG" smtClean="0"/>
              <a:t>22/09/1447</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013FA12-A6BF-4EF9-B8E4-1C84205C342A}" type="slidenum">
              <a:rPr lang="ar-EG" smtClean="0"/>
              <a:t>‹#›</a:t>
            </a:fld>
            <a:endParaRPr lang="ar-EG"/>
          </a:p>
        </p:txBody>
      </p:sp>
    </p:spTree>
    <p:extLst>
      <p:ext uri="{BB962C8B-B14F-4D97-AF65-F5344CB8AC3E}">
        <p14:creationId xmlns:p14="http://schemas.microsoft.com/office/powerpoint/2010/main" val="4140153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5"/>
          </p:nvPr>
        </p:nvSpPr>
        <p:spPr/>
        <p:txBody>
          <a:bodyPr/>
          <a:lstStyle/>
          <a:p>
            <a:fld id="{E013FA12-A6BF-4EF9-B8E4-1C84205C342A}" type="slidenum">
              <a:rPr lang="ar-EG" smtClean="0"/>
              <a:t>6</a:t>
            </a:fld>
            <a:endParaRPr lang="ar-EG"/>
          </a:p>
        </p:txBody>
      </p:sp>
    </p:spTree>
    <p:extLst>
      <p:ext uri="{BB962C8B-B14F-4D97-AF65-F5344CB8AC3E}">
        <p14:creationId xmlns:p14="http://schemas.microsoft.com/office/powerpoint/2010/main" val="3935369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21EA4-26D1-F1F9-1449-1DC69FC109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EG"/>
          </a:p>
        </p:txBody>
      </p:sp>
      <p:sp>
        <p:nvSpPr>
          <p:cNvPr id="3" name="Subtitle 2">
            <a:extLst>
              <a:ext uri="{FF2B5EF4-FFF2-40B4-BE49-F238E27FC236}">
                <a16:creationId xmlns:a16="http://schemas.microsoft.com/office/drawing/2014/main" id="{F447D646-6DF7-D7FE-4157-4C47ED2A93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EG"/>
          </a:p>
        </p:txBody>
      </p:sp>
      <p:sp>
        <p:nvSpPr>
          <p:cNvPr id="4" name="Date Placeholder 3">
            <a:extLst>
              <a:ext uri="{FF2B5EF4-FFF2-40B4-BE49-F238E27FC236}">
                <a16:creationId xmlns:a16="http://schemas.microsoft.com/office/drawing/2014/main" id="{396CE9DF-91C9-EB40-A3B6-C3350F992E55}"/>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5" name="Footer Placeholder 4">
            <a:extLst>
              <a:ext uri="{FF2B5EF4-FFF2-40B4-BE49-F238E27FC236}">
                <a16:creationId xmlns:a16="http://schemas.microsoft.com/office/drawing/2014/main" id="{33CAD825-A035-B78F-C91C-67447040978E}"/>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0FE2DADD-D04A-F710-A57A-9FB66106CB96}"/>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271295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FD2C-C091-D5F2-33D4-669D0CB01551}"/>
              </a:ext>
            </a:extLst>
          </p:cNvPr>
          <p:cNvSpPr>
            <a:spLocks noGrp="1"/>
          </p:cNvSpPr>
          <p:nvPr>
            <p:ph type="title"/>
          </p:nvPr>
        </p:nvSpPr>
        <p:spPr/>
        <p:txBody>
          <a:bodyPr/>
          <a:lstStyle/>
          <a:p>
            <a:r>
              <a:rPr lang="en-US"/>
              <a:t>Click to edit Master title style</a:t>
            </a:r>
            <a:endParaRPr lang="ar-EG"/>
          </a:p>
        </p:txBody>
      </p:sp>
      <p:sp>
        <p:nvSpPr>
          <p:cNvPr id="3" name="Content Placeholder 2">
            <a:extLst>
              <a:ext uri="{FF2B5EF4-FFF2-40B4-BE49-F238E27FC236}">
                <a16:creationId xmlns:a16="http://schemas.microsoft.com/office/drawing/2014/main" id="{CD9E254F-70F9-C4AD-D8AC-21C94F5576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136E0176-50D4-B541-4575-84D0F0AFA69F}"/>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5" name="Footer Placeholder 4">
            <a:extLst>
              <a:ext uri="{FF2B5EF4-FFF2-40B4-BE49-F238E27FC236}">
                <a16:creationId xmlns:a16="http://schemas.microsoft.com/office/drawing/2014/main" id="{5A69B9AF-740E-ECE6-AA9A-8C79DDE9FFE2}"/>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DB923051-C1B0-496B-CA6E-4FCD15831A6E}"/>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118529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2B1F6-80FF-EAAB-287A-3A2F6B64E1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EG"/>
          </a:p>
        </p:txBody>
      </p:sp>
      <p:sp>
        <p:nvSpPr>
          <p:cNvPr id="3" name="Text Placeholder 2">
            <a:extLst>
              <a:ext uri="{FF2B5EF4-FFF2-40B4-BE49-F238E27FC236}">
                <a16:creationId xmlns:a16="http://schemas.microsoft.com/office/drawing/2014/main" id="{DCA26AAB-F2C0-B36E-0B04-CF2F0032A0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C1FBB8-BAC9-F44A-9F86-A8A97B06E485}"/>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5" name="Footer Placeholder 4">
            <a:extLst>
              <a:ext uri="{FF2B5EF4-FFF2-40B4-BE49-F238E27FC236}">
                <a16:creationId xmlns:a16="http://schemas.microsoft.com/office/drawing/2014/main" id="{4F4C8347-255F-9116-FB50-B61B983DBDF7}"/>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BBE71230-C1F1-2D07-CB41-5A310ECD5155}"/>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3646216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AC41B-80D1-29CC-1BFF-099A5EA8D785}"/>
              </a:ext>
            </a:extLst>
          </p:cNvPr>
          <p:cNvSpPr>
            <a:spLocks noGrp="1"/>
          </p:cNvSpPr>
          <p:nvPr>
            <p:ph type="title"/>
          </p:nvPr>
        </p:nvSpPr>
        <p:spPr/>
        <p:txBody>
          <a:bodyPr/>
          <a:lstStyle/>
          <a:p>
            <a:r>
              <a:rPr lang="en-US"/>
              <a:t>Click to edit Master title style</a:t>
            </a:r>
            <a:endParaRPr lang="ar-EG"/>
          </a:p>
        </p:txBody>
      </p:sp>
      <p:sp>
        <p:nvSpPr>
          <p:cNvPr id="3" name="Content Placeholder 2">
            <a:extLst>
              <a:ext uri="{FF2B5EF4-FFF2-40B4-BE49-F238E27FC236}">
                <a16:creationId xmlns:a16="http://schemas.microsoft.com/office/drawing/2014/main" id="{693350E2-6022-8F72-9987-721AAD5305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a:extLst>
              <a:ext uri="{FF2B5EF4-FFF2-40B4-BE49-F238E27FC236}">
                <a16:creationId xmlns:a16="http://schemas.microsoft.com/office/drawing/2014/main" id="{DB6CAD34-5051-D3BE-837B-02C76B5A29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a:extLst>
              <a:ext uri="{FF2B5EF4-FFF2-40B4-BE49-F238E27FC236}">
                <a16:creationId xmlns:a16="http://schemas.microsoft.com/office/drawing/2014/main" id="{09B7E2FA-16A1-73AD-10E5-5CBA89675C1A}"/>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6" name="Footer Placeholder 5">
            <a:extLst>
              <a:ext uri="{FF2B5EF4-FFF2-40B4-BE49-F238E27FC236}">
                <a16:creationId xmlns:a16="http://schemas.microsoft.com/office/drawing/2014/main" id="{C8A358FE-3A56-E619-0F50-3874E132A642}"/>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8487B369-EE1E-E7F5-95E8-6C57E82A1526}"/>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1747226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7467F-6462-4589-2EA3-F46683247C71}"/>
              </a:ext>
            </a:extLst>
          </p:cNvPr>
          <p:cNvSpPr>
            <a:spLocks noGrp="1"/>
          </p:cNvSpPr>
          <p:nvPr>
            <p:ph type="title"/>
          </p:nvPr>
        </p:nvSpPr>
        <p:spPr>
          <a:xfrm>
            <a:off x="839788" y="365125"/>
            <a:ext cx="10515600" cy="1325563"/>
          </a:xfrm>
        </p:spPr>
        <p:txBody>
          <a:bodyPr/>
          <a:lstStyle/>
          <a:p>
            <a:r>
              <a:rPr lang="en-US"/>
              <a:t>Click to edit Master title style</a:t>
            </a:r>
            <a:endParaRPr lang="ar-EG"/>
          </a:p>
        </p:txBody>
      </p:sp>
      <p:sp>
        <p:nvSpPr>
          <p:cNvPr id="3" name="Text Placeholder 2">
            <a:extLst>
              <a:ext uri="{FF2B5EF4-FFF2-40B4-BE49-F238E27FC236}">
                <a16:creationId xmlns:a16="http://schemas.microsoft.com/office/drawing/2014/main" id="{79D037F5-04CF-5436-472F-634F3A5E8F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5DACF3-2536-E906-CE1C-37A900D6A9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a:extLst>
              <a:ext uri="{FF2B5EF4-FFF2-40B4-BE49-F238E27FC236}">
                <a16:creationId xmlns:a16="http://schemas.microsoft.com/office/drawing/2014/main" id="{2EA5EED9-6881-ABBA-38A6-2324342A69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203B8-FE4A-D45D-3393-93211210B0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a:extLst>
              <a:ext uri="{FF2B5EF4-FFF2-40B4-BE49-F238E27FC236}">
                <a16:creationId xmlns:a16="http://schemas.microsoft.com/office/drawing/2014/main" id="{5D097704-FD7F-425C-8287-A004E4018E08}"/>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8" name="Footer Placeholder 7">
            <a:extLst>
              <a:ext uri="{FF2B5EF4-FFF2-40B4-BE49-F238E27FC236}">
                <a16:creationId xmlns:a16="http://schemas.microsoft.com/office/drawing/2014/main" id="{1C472BA5-CB4D-8AE2-8875-28057BDBDA1D}"/>
              </a:ext>
            </a:extLst>
          </p:cNvPr>
          <p:cNvSpPr>
            <a:spLocks noGrp="1"/>
          </p:cNvSpPr>
          <p:nvPr>
            <p:ph type="ftr" sz="quarter" idx="11"/>
          </p:nvPr>
        </p:nvSpPr>
        <p:spPr/>
        <p:txBody>
          <a:bodyPr/>
          <a:lstStyle/>
          <a:p>
            <a:endParaRPr lang="ar-EG"/>
          </a:p>
        </p:txBody>
      </p:sp>
      <p:sp>
        <p:nvSpPr>
          <p:cNvPr id="9" name="Slide Number Placeholder 8">
            <a:extLst>
              <a:ext uri="{FF2B5EF4-FFF2-40B4-BE49-F238E27FC236}">
                <a16:creationId xmlns:a16="http://schemas.microsoft.com/office/drawing/2014/main" id="{9B963443-4ACA-E15E-A4D8-4B9D311E5813}"/>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3981926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8EC19-4157-6F2F-BECC-8E1A51D3EB2E}"/>
              </a:ext>
            </a:extLst>
          </p:cNvPr>
          <p:cNvSpPr>
            <a:spLocks noGrp="1"/>
          </p:cNvSpPr>
          <p:nvPr>
            <p:ph type="title"/>
          </p:nvPr>
        </p:nvSpPr>
        <p:spPr/>
        <p:txBody>
          <a:bodyPr/>
          <a:lstStyle/>
          <a:p>
            <a:r>
              <a:rPr lang="en-US"/>
              <a:t>Click to edit Master title style</a:t>
            </a:r>
            <a:endParaRPr lang="ar-EG"/>
          </a:p>
        </p:txBody>
      </p:sp>
      <p:sp>
        <p:nvSpPr>
          <p:cNvPr id="3" name="Date Placeholder 2">
            <a:extLst>
              <a:ext uri="{FF2B5EF4-FFF2-40B4-BE49-F238E27FC236}">
                <a16:creationId xmlns:a16="http://schemas.microsoft.com/office/drawing/2014/main" id="{C9217D4F-67D1-F75F-8F66-506CA700752C}"/>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4" name="Footer Placeholder 3">
            <a:extLst>
              <a:ext uri="{FF2B5EF4-FFF2-40B4-BE49-F238E27FC236}">
                <a16:creationId xmlns:a16="http://schemas.microsoft.com/office/drawing/2014/main" id="{D631B2A9-C8C1-49CF-0560-6F69A7B2DE78}"/>
              </a:ext>
            </a:extLst>
          </p:cNvPr>
          <p:cNvSpPr>
            <a:spLocks noGrp="1"/>
          </p:cNvSpPr>
          <p:nvPr>
            <p:ph type="ftr" sz="quarter" idx="11"/>
          </p:nvPr>
        </p:nvSpPr>
        <p:spPr/>
        <p:txBody>
          <a:bodyPr/>
          <a:lstStyle/>
          <a:p>
            <a:endParaRPr lang="ar-EG"/>
          </a:p>
        </p:txBody>
      </p:sp>
      <p:sp>
        <p:nvSpPr>
          <p:cNvPr id="5" name="Slide Number Placeholder 4">
            <a:extLst>
              <a:ext uri="{FF2B5EF4-FFF2-40B4-BE49-F238E27FC236}">
                <a16:creationId xmlns:a16="http://schemas.microsoft.com/office/drawing/2014/main" id="{E4E66074-95BA-C2E5-FC3E-0988B7414775}"/>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4226618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5F2AB2-858F-94E3-D8C9-933AD20A0715}"/>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3" name="Footer Placeholder 2">
            <a:extLst>
              <a:ext uri="{FF2B5EF4-FFF2-40B4-BE49-F238E27FC236}">
                <a16:creationId xmlns:a16="http://schemas.microsoft.com/office/drawing/2014/main" id="{A038A272-B840-E25E-8192-0B28EBA444AA}"/>
              </a:ext>
            </a:extLst>
          </p:cNvPr>
          <p:cNvSpPr>
            <a:spLocks noGrp="1"/>
          </p:cNvSpPr>
          <p:nvPr>
            <p:ph type="ftr" sz="quarter" idx="11"/>
          </p:nvPr>
        </p:nvSpPr>
        <p:spPr/>
        <p:txBody>
          <a:bodyPr/>
          <a:lstStyle/>
          <a:p>
            <a:endParaRPr lang="ar-EG"/>
          </a:p>
        </p:txBody>
      </p:sp>
      <p:sp>
        <p:nvSpPr>
          <p:cNvPr id="4" name="Slide Number Placeholder 3">
            <a:extLst>
              <a:ext uri="{FF2B5EF4-FFF2-40B4-BE49-F238E27FC236}">
                <a16:creationId xmlns:a16="http://schemas.microsoft.com/office/drawing/2014/main" id="{04C6640D-4EB0-97B5-181D-FD8D7B5C9009}"/>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4115592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D00C-BB98-A99D-5636-A532EEFAA2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Content Placeholder 2">
            <a:extLst>
              <a:ext uri="{FF2B5EF4-FFF2-40B4-BE49-F238E27FC236}">
                <a16:creationId xmlns:a16="http://schemas.microsoft.com/office/drawing/2014/main" id="{64A95EBA-4DD4-D4D3-A8CB-5DBC1DF94C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a:extLst>
              <a:ext uri="{FF2B5EF4-FFF2-40B4-BE49-F238E27FC236}">
                <a16:creationId xmlns:a16="http://schemas.microsoft.com/office/drawing/2014/main" id="{9C9E0755-5733-A068-B4B8-21EDC9E9CD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E48CED-DAE5-6056-E114-20C912A4BA36}"/>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6" name="Footer Placeholder 5">
            <a:extLst>
              <a:ext uri="{FF2B5EF4-FFF2-40B4-BE49-F238E27FC236}">
                <a16:creationId xmlns:a16="http://schemas.microsoft.com/office/drawing/2014/main" id="{0B2EAB64-14DF-6C59-72AA-342897D84304}"/>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0D24E5BE-7F14-2137-13C4-9823AC6F8CEF}"/>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1912843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F6E9F-EBD4-1A1B-D8F5-47FB51225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Picture Placeholder 2">
            <a:extLst>
              <a:ext uri="{FF2B5EF4-FFF2-40B4-BE49-F238E27FC236}">
                <a16:creationId xmlns:a16="http://schemas.microsoft.com/office/drawing/2014/main" id="{4164434F-0073-88B1-A2E8-FE89D9FF45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a:extLst>
              <a:ext uri="{FF2B5EF4-FFF2-40B4-BE49-F238E27FC236}">
                <a16:creationId xmlns:a16="http://schemas.microsoft.com/office/drawing/2014/main" id="{898994EB-8D08-AE86-D43E-9AC7EB6DBF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38683D-3B43-F145-B745-F1B059E335C2}"/>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6" name="Footer Placeholder 5">
            <a:extLst>
              <a:ext uri="{FF2B5EF4-FFF2-40B4-BE49-F238E27FC236}">
                <a16:creationId xmlns:a16="http://schemas.microsoft.com/office/drawing/2014/main" id="{6D4D1816-F9FB-AAC7-79C7-4527A4BBA151}"/>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0C7B6090-6FFF-D55C-CC9C-5CF15AB5535A}"/>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905244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C9DF4-3644-8862-4C59-06F88EA5FC0F}"/>
              </a:ext>
            </a:extLst>
          </p:cNvPr>
          <p:cNvSpPr>
            <a:spLocks noGrp="1"/>
          </p:cNvSpPr>
          <p:nvPr>
            <p:ph type="title"/>
          </p:nvPr>
        </p:nvSpPr>
        <p:spPr/>
        <p:txBody>
          <a:bodyPr/>
          <a:lstStyle/>
          <a:p>
            <a:r>
              <a:rPr lang="en-US"/>
              <a:t>Click to edit Master title style</a:t>
            </a:r>
            <a:endParaRPr lang="ar-EG"/>
          </a:p>
        </p:txBody>
      </p:sp>
      <p:sp>
        <p:nvSpPr>
          <p:cNvPr id="3" name="Vertical Text Placeholder 2">
            <a:extLst>
              <a:ext uri="{FF2B5EF4-FFF2-40B4-BE49-F238E27FC236}">
                <a16:creationId xmlns:a16="http://schemas.microsoft.com/office/drawing/2014/main" id="{B74DB21C-3849-F75F-6152-062AB17A85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EE14B2EA-C576-9683-63BD-109F4729291F}"/>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5" name="Footer Placeholder 4">
            <a:extLst>
              <a:ext uri="{FF2B5EF4-FFF2-40B4-BE49-F238E27FC236}">
                <a16:creationId xmlns:a16="http://schemas.microsoft.com/office/drawing/2014/main" id="{3CE479E2-DCFF-9966-11CB-D4EB42257049}"/>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14BB6AE9-1291-8B84-FFD3-339D92382184}"/>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43659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01C016-5B68-504A-8FF9-587B50F722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EG"/>
          </a:p>
        </p:txBody>
      </p:sp>
      <p:sp>
        <p:nvSpPr>
          <p:cNvPr id="3" name="Vertical Text Placeholder 2">
            <a:extLst>
              <a:ext uri="{FF2B5EF4-FFF2-40B4-BE49-F238E27FC236}">
                <a16:creationId xmlns:a16="http://schemas.microsoft.com/office/drawing/2014/main" id="{40F48E5F-B678-AB40-4632-B0B84CBC5B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5F5BA983-815A-53A9-01F5-74EE374D38A7}"/>
              </a:ext>
            </a:extLst>
          </p:cNvPr>
          <p:cNvSpPr>
            <a:spLocks noGrp="1"/>
          </p:cNvSpPr>
          <p:nvPr>
            <p:ph type="dt" sz="half" idx="10"/>
          </p:nvPr>
        </p:nvSpPr>
        <p:spPr/>
        <p:txBody>
          <a:bodyPr/>
          <a:lstStyle/>
          <a:p>
            <a:fld id="{12B455D1-1F7A-4492-BEAD-E258AEFE618D}" type="datetimeFigureOut">
              <a:rPr lang="ar-EG" smtClean="0"/>
              <a:t>21/09/1447</a:t>
            </a:fld>
            <a:endParaRPr lang="ar-EG"/>
          </a:p>
        </p:txBody>
      </p:sp>
      <p:sp>
        <p:nvSpPr>
          <p:cNvPr id="5" name="Footer Placeholder 4">
            <a:extLst>
              <a:ext uri="{FF2B5EF4-FFF2-40B4-BE49-F238E27FC236}">
                <a16:creationId xmlns:a16="http://schemas.microsoft.com/office/drawing/2014/main" id="{C8423BC8-8366-E2BC-0624-480E96C399FA}"/>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28EE822F-74B9-9E1A-01EB-69F1BAB684E2}"/>
              </a:ext>
            </a:extLst>
          </p:cNvPr>
          <p:cNvSpPr>
            <a:spLocks noGrp="1"/>
          </p:cNvSpPr>
          <p:nvPr>
            <p:ph type="sldNum" sz="quarter" idx="12"/>
          </p:nvPr>
        </p:nvSpPr>
        <p:spPr/>
        <p:txBody>
          <a:bodyPr/>
          <a:lstStyle/>
          <a:p>
            <a:fld id="{2405E0D1-80E9-4BF4-BCC8-AF99FFDF4CDC}" type="slidenum">
              <a:rPr lang="ar-EG" smtClean="0"/>
              <a:t>‹#›</a:t>
            </a:fld>
            <a:endParaRPr lang="ar-EG"/>
          </a:p>
        </p:txBody>
      </p:sp>
    </p:spTree>
    <p:extLst>
      <p:ext uri="{BB962C8B-B14F-4D97-AF65-F5344CB8AC3E}">
        <p14:creationId xmlns:p14="http://schemas.microsoft.com/office/powerpoint/2010/main" val="253063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00E7B4-81F1-BAA8-6DE0-F9295E677F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EG"/>
          </a:p>
        </p:txBody>
      </p:sp>
      <p:sp>
        <p:nvSpPr>
          <p:cNvPr id="3" name="Text Placeholder 2">
            <a:extLst>
              <a:ext uri="{FF2B5EF4-FFF2-40B4-BE49-F238E27FC236}">
                <a16:creationId xmlns:a16="http://schemas.microsoft.com/office/drawing/2014/main" id="{7F474F22-EE9F-5845-4AEA-C316096771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a:extLst>
              <a:ext uri="{FF2B5EF4-FFF2-40B4-BE49-F238E27FC236}">
                <a16:creationId xmlns:a16="http://schemas.microsoft.com/office/drawing/2014/main" id="{F17B4138-332B-3403-6C12-A7D479A1AD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B455D1-1F7A-4492-BEAD-E258AEFE618D}" type="datetimeFigureOut">
              <a:rPr lang="ar-EG" smtClean="0"/>
              <a:t>21/09/1447</a:t>
            </a:fld>
            <a:endParaRPr lang="ar-EG"/>
          </a:p>
        </p:txBody>
      </p:sp>
      <p:sp>
        <p:nvSpPr>
          <p:cNvPr id="5" name="Footer Placeholder 4">
            <a:extLst>
              <a:ext uri="{FF2B5EF4-FFF2-40B4-BE49-F238E27FC236}">
                <a16:creationId xmlns:a16="http://schemas.microsoft.com/office/drawing/2014/main" id="{344E7B80-F378-B918-03BB-CE968449E2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ar-EG"/>
          </a:p>
        </p:txBody>
      </p:sp>
      <p:sp>
        <p:nvSpPr>
          <p:cNvPr id="6" name="Slide Number Placeholder 5">
            <a:extLst>
              <a:ext uri="{FF2B5EF4-FFF2-40B4-BE49-F238E27FC236}">
                <a16:creationId xmlns:a16="http://schemas.microsoft.com/office/drawing/2014/main" id="{EA8878C6-6617-9283-87A1-B2C0A1C635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05E0D1-80E9-4BF4-BCC8-AF99FFDF4CDC}" type="slidenum">
              <a:rPr lang="ar-EG" smtClean="0"/>
              <a:t>‹#›</a:t>
            </a:fld>
            <a:endParaRPr lang="ar-EG"/>
          </a:p>
        </p:txBody>
      </p:sp>
    </p:spTree>
    <p:extLst>
      <p:ext uri="{BB962C8B-B14F-4D97-AF65-F5344CB8AC3E}">
        <p14:creationId xmlns:p14="http://schemas.microsoft.com/office/powerpoint/2010/main" val="3235754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3F7CF-434E-7CC2-4601-20D8BB910E94}"/>
              </a:ext>
            </a:extLst>
          </p:cNvPr>
          <p:cNvSpPr>
            <a:spLocks noGrp="1"/>
          </p:cNvSpPr>
          <p:nvPr>
            <p:ph type="ctrTitle"/>
          </p:nvPr>
        </p:nvSpPr>
        <p:spPr/>
        <p:txBody>
          <a:bodyPr/>
          <a:lstStyle/>
          <a:p>
            <a:endParaRPr lang="ar-EG"/>
          </a:p>
        </p:txBody>
      </p:sp>
      <p:sp>
        <p:nvSpPr>
          <p:cNvPr id="3" name="Subtitle 2">
            <a:extLst>
              <a:ext uri="{FF2B5EF4-FFF2-40B4-BE49-F238E27FC236}">
                <a16:creationId xmlns:a16="http://schemas.microsoft.com/office/drawing/2014/main" id="{A54EADBB-7235-DECE-65C7-580FA6C77A7D}"/>
              </a:ext>
            </a:extLst>
          </p:cNvPr>
          <p:cNvSpPr>
            <a:spLocks noGrp="1"/>
          </p:cNvSpPr>
          <p:nvPr>
            <p:ph type="subTitle" idx="1"/>
          </p:nvPr>
        </p:nvSpPr>
        <p:spPr/>
        <p:txBody>
          <a:bodyPr/>
          <a:lstStyle/>
          <a:p>
            <a:endParaRPr lang="ar-EG"/>
          </a:p>
        </p:txBody>
      </p:sp>
      <p:pic>
        <p:nvPicPr>
          <p:cNvPr id="11" name="Picture 10">
            <a:extLst>
              <a:ext uri="{FF2B5EF4-FFF2-40B4-BE49-F238E27FC236}">
                <a16:creationId xmlns:a16="http://schemas.microsoft.com/office/drawing/2014/main" id="{C51F44CB-B22B-1189-332F-FF0A99F9FB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72" y="0"/>
            <a:ext cx="12265572" cy="6858000"/>
          </a:xfrm>
          <a:prstGeom prst="rect">
            <a:avLst/>
          </a:prstGeom>
        </p:spPr>
      </p:pic>
    </p:spTree>
    <p:extLst>
      <p:ext uri="{BB962C8B-B14F-4D97-AF65-F5344CB8AC3E}">
        <p14:creationId xmlns:p14="http://schemas.microsoft.com/office/powerpoint/2010/main" val="2505526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F774F-B456-6C0C-0AD7-92C95F4559BD}"/>
              </a:ext>
            </a:extLst>
          </p:cNvPr>
          <p:cNvSpPr>
            <a:spLocks noGrp="1"/>
          </p:cNvSpPr>
          <p:nvPr>
            <p:ph type="title"/>
          </p:nvPr>
        </p:nvSpPr>
        <p:spPr/>
        <p:txBody>
          <a:bodyPr/>
          <a:lstStyle/>
          <a:p>
            <a:r>
              <a:rPr lang="en-US" dirty="0">
                <a:solidFill>
                  <a:srgbClr val="0070C0"/>
                </a:solidFill>
              </a:rPr>
              <a:t>1. Project description</a:t>
            </a:r>
            <a:endParaRPr lang="ar-EG" dirty="0">
              <a:solidFill>
                <a:srgbClr val="0070C0"/>
              </a:solidFill>
            </a:endParaRPr>
          </a:p>
        </p:txBody>
      </p:sp>
      <p:pic>
        <p:nvPicPr>
          <p:cNvPr id="5" name="Content Placeholder 4">
            <a:extLst>
              <a:ext uri="{FF2B5EF4-FFF2-40B4-BE49-F238E27FC236}">
                <a16:creationId xmlns:a16="http://schemas.microsoft.com/office/drawing/2014/main" id="{93D9C058-2223-5CAB-524D-456E622DCAB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127" t="16792" r="2474" b="3865"/>
          <a:stretch>
            <a:fillRect/>
          </a:stretch>
        </p:blipFill>
        <p:spPr>
          <a:xfrm>
            <a:off x="7259782" y="2479963"/>
            <a:ext cx="4807527" cy="2267527"/>
          </a:xfrm>
          <a:prstGeom prst="rect">
            <a:avLst/>
          </a:prstGeom>
        </p:spPr>
      </p:pic>
      <p:sp>
        <p:nvSpPr>
          <p:cNvPr id="7" name="TextBox 6">
            <a:extLst>
              <a:ext uri="{FF2B5EF4-FFF2-40B4-BE49-F238E27FC236}">
                <a16:creationId xmlns:a16="http://schemas.microsoft.com/office/drawing/2014/main" id="{91B207A4-01E4-EF6E-B06D-3AB89E247128}"/>
              </a:ext>
            </a:extLst>
          </p:cNvPr>
          <p:cNvSpPr txBox="1"/>
          <p:nvPr/>
        </p:nvSpPr>
        <p:spPr>
          <a:xfrm>
            <a:off x="1003300" y="2385388"/>
            <a:ext cx="6096000" cy="2423292"/>
          </a:xfrm>
          <a:prstGeom prst="rect">
            <a:avLst/>
          </a:prstGeom>
          <a:noFill/>
        </p:spPr>
        <p:txBody>
          <a:bodyPr wrap="square">
            <a:spAutoFit/>
          </a:bodyPr>
          <a:lstStyle/>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The Autonomous Self-Parking System is an intelligent agent designed to navigate a vehicle from a starting point within a parking lot to a designated vacant spot. </a:t>
            </a:r>
          </a:p>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The system must maneuver the vehicle safely, avoiding obstacles (other cars, curbs, or pedestrians), and align the vehicle perfectly within the parking boundaries without human intervention.</a:t>
            </a:r>
          </a:p>
        </p:txBody>
      </p:sp>
    </p:spTree>
    <p:extLst>
      <p:ext uri="{BB962C8B-B14F-4D97-AF65-F5344CB8AC3E}">
        <p14:creationId xmlns:p14="http://schemas.microsoft.com/office/powerpoint/2010/main" val="148485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65049-1CC8-5D1E-23ED-D62212128931}"/>
              </a:ext>
            </a:extLst>
          </p:cNvPr>
          <p:cNvSpPr>
            <a:spLocks noGrp="1"/>
          </p:cNvSpPr>
          <p:nvPr>
            <p:ph type="title"/>
          </p:nvPr>
        </p:nvSpPr>
        <p:spPr/>
        <p:txBody>
          <a:bodyPr/>
          <a:lstStyle/>
          <a:p>
            <a:r>
              <a:rPr lang="en-US" dirty="0">
                <a:solidFill>
                  <a:srgbClr val="0070C0"/>
                </a:solidFill>
              </a:rPr>
              <a:t>2. Goal and Importance</a:t>
            </a:r>
          </a:p>
        </p:txBody>
      </p:sp>
      <p:sp>
        <p:nvSpPr>
          <p:cNvPr id="13" name="TextBox 12">
            <a:extLst>
              <a:ext uri="{FF2B5EF4-FFF2-40B4-BE49-F238E27FC236}">
                <a16:creationId xmlns:a16="http://schemas.microsoft.com/office/drawing/2014/main" id="{E0F8E2B6-AD01-2EC7-0F83-0EBC9CE8820B}"/>
              </a:ext>
            </a:extLst>
          </p:cNvPr>
          <p:cNvSpPr txBox="1"/>
          <p:nvPr/>
        </p:nvSpPr>
        <p:spPr>
          <a:xfrm>
            <a:off x="972126" y="1908584"/>
            <a:ext cx="7003473" cy="4020139"/>
          </a:xfrm>
          <a:prstGeom prst="rect">
            <a:avLst/>
          </a:prstGeom>
          <a:noFill/>
        </p:spPr>
        <p:txBody>
          <a:bodyPr wrap="square">
            <a:spAutoFit/>
          </a:bodyPr>
          <a:lstStyle/>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Goal:</a:t>
            </a:r>
          </a:p>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To achieve precise, collision-free parking in the shortest time possible using optimized path-finding algorithms.</a:t>
            </a:r>
          </a:p>
          <a:p>
            <a:pPr>
              <a:lnSpc>
                <a:spcPct val="115000"/>
              </a:lnSpc>
              <a:spcAft>
                <a:spcPts val="1000"/>
              </a:spcAft>
              <a:buNone/>
            </a:pPr>
            <a:endParaRPr lang="en-US" sz="1800" dirty="0">
              <a:effectLst/>
              <a:latin typeface="Cambria" panose="02040503050406030204" pitchFamily="18" charset="0"/>
              <a:ea typeface="MS Mincho" panose="02020609040205080304" pitchFamily="49" charset="-128"/>
              <a:cs typeface="Arial" panose="020B0604020202020204" pitchFamily="34" charset="0"/>
            </a:endParaRPr>
          </a:p>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Importance:</a:t>
            </a:r>
          </a:p>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 Safety: Reduces minor accidents and scratches caused by human error in tight spaces.</a:t>
            </a:r>
          </a:p>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 Convenience: Saves time for drivers and assists those who find parallel or reverse parking difficult.</a:t>
            </a:r>
          </a:p>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 Efficiency: Optimizes the use of available parking space.</a:t>
            </a:r>
          </a:p>
        </p:txBody>
      </p:sp>
      <p:pic>
        <p:nvPicPr>
          <p:cNvPr id="10" name="Content Placeholder 9">
            <a:extLst>
              <a:ext uri="{FF2B5EF4-FFF2-40B4-BE49-F238E27FC236}">
                <a16:creationId xmlns:a16="http://schemas.microsoft.com/office/drawing/2014/main" id="{419FC9C4-CC4D-07CB-51F5-178FA5694BB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47" t="19958" r="1400"/>
          <a:stretch>
            <a:fillRect/>
          </a:stretch>
        </p:blipFill>
        <p:spPr>
          <a:xfrm>
            <a:off x="7603957" y="2895598"/>
            <a:ext cx="4483769" cy="2096909"/>
          </a:xfrm>
          <a:prstGeom prst="rect">
            <a:avLst/>
          </a:prstGeom>
        </p:spPr>
      </p:pic>
    </p:spTree>
    <p:extLst>
      <p:ext uri="{BB962C8B-B14F-4D97-AF65-F5344CB8AC3E}">
        <p14:creationId xmlns:p14="http://schemas.microsoft.com/office/powerpoint/2010/main" val="1412621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AA18-C5C8-70B7-C95D-C11C470EB043}"/>
              </a:ext>
            </a:extLst>
          </p:cNvPr>
          <p:cNvSpPr>
            <a:spLocks noGrp="1"/>
          </p:cNvSpPr>
          <p:nvPr>
            <p:ph type="title"/>
          </p:nvPr>
        </p:nvSpPr>
        <p:spPr/>
        <p:txBody>
          <a:bodyPr/>
          <a:lstStyle/>
          <a:p>
            <a:r>
              <a:rPr lang="en-US" dirty="0">
                <a:solidFill>
                  <a:srgbClr val="0070C0"/>
                </a:solidFill>
              </a:rPr>
              <a:t>3. Related Work</a:t>
            </a:r>
            <a:endParaRPr lang="ar-EG" dirty="0">
              <a:solidFill>
                <a:srgbClr val="0070C0"/>
              </a:solidFill>
            </a:endParaRPr>
          </a:p>
        </p:txBody>
      </p:sp>
      <p:pic>
        <p:nvPicPr>
          <p:cNvPr id="5" name="Content Placeholder 4">
            <a:extLst>
              <a:ext uri="{FF2B5EF4-FFF2-40B4-BE49-F238E27FC236}">
                <a16:creationId xmlns:a16="http://schemas.microsoft.com/office/drawing/2014/main" id="{5FC4CE7A-D965-67CC-69B2-01D29EA41F7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503" t="2976" r="8195"/>
          <a:stretch>
            <a:fillRect/>
          </a:stretch>
        </p:blipFill>
        <p:spPr>
          <a:xfrm>
            <a:off x="7132705" y="2311400"/>
            <a:ext cx="4906895" cy="2305928"/>
          </a:xfrm>
          <a:prstGeom prst="rect">
            <a:avLst/>
          </a:prstGeom>
        </p:spPr>
      </p:pic>
      <p:sp>
        <p:nvSpPr>
          <p:cNvPr id="7" name="TextBox 6">
            <a:extLst>
              <a:ext uri="{FF2B5EF4-FFF2-40B4-BE49-F238E27FC236}">
                <a16:creationId xmlns:a16="http://schemas.microsoft.com/office/drawing/2014/main" id="{A081C08B-0D76-E9A6-56F3-CA763886C031}"/>
              </a:ext>
            </a:extLst>
          </p:cNvPr>
          <p:cNvSpPr txBox="1"/>
          <p:nvPr/>
        </p:nvSpPr>
        <p:spPr>
          <a:xfrm>
            <a:off x="960428" y="1968343"/>
            <a:ext cx="6223077" cy="2921313"/>
          </a:xfrm>
          <a:prstGeom prst="rect">
            <a:avLst/>
          </a:prstGeom>
          <a:noFill/>
        </p:spPr>
        <p:txBody>
          <a:bodyPr wrap="square">
            <a:spAutoFit/>
          </a:bodyPr>
          <a:lstStyle/>
          <a:p>
            <a:pPr>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Automated parking assistance systems are widely used in modern vehicles. Many automotive companies such as Tesla, BMW, and Mercedes-Benz have introduced technologies that allow cars to automatically detect and park in available spaces.</a:t>
            </a:r>
          </a:p>
          <a:p>
            <a:pPr>
              <a:buNone/>
            </a:pPr>
            <a:r>
              <a:rPr lang="en-US" sz="1800" dirty="0">
                <a:effectLst/>
                <a:latin typeface="Cambria" panose="02040503050406030204" pitchFamily="18" charset="0"/>
                <a:ea typeface="MS Mincho" panose="02020609040205080304" pitchFamily="49" charset="-128"/>
                <a:cs typeface="Arial" panose="020B0604020202020204" pitchFamily="34" charset="0"/>
              </a:rPr>
              <a:t>In academic research, similar problems are studied under path planning and autonomous navigation. These systems typically represent environments as graphs or grids and apply search algorithms to determine optimal routes.</a:t>
            </a:r>
            <a:endParaRPr lang="ar-EG" dirty="0"/>
          </a:p>
        </p:txBody>
      </p:sp>
    </p:spTree>
    <p:extLst>
      <p:ext uri="{BB962C8B-B14F-4D97-AF65-F5344CB8AC3E}">
        <p14:creationId xmlns:p14="http://schemas.microsoft.com/office/powerpoint/2010/main" val="3220188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0E94B-AA38-32FF-0A7D-6B40CECD5FAB}"/>
              </a:ext>
            </a:extLst>
          </p:cNvPr>
          <p:cNvSpPr>
            <a:spLocks noGrp="1"/>
          </p:cNvSpPr>
          <p:nvPr>
            <p:ph type="title"/>
          </p:nvPr>
        </p:nvSpPr>
        <p:spPr/>
        <p:txBody>
          <a:bodyPr/>
          <a:lstStyle/>
          <a:p>
            <a:pPr algn="ctr"/>
            <a:r>
              <a:rPr lang="en-US" dirty="0">
                <a:solidFill>
                  <a:srgbClr val="0070C0"/>
                </a:solidFill>
              </a:rPr>
              <a:t>4. Proposed Algorithm</a:t>
            </a:r>
            <a:endParaRPr lang="ar-EG" dirty="0">
              <a:solidFill>
                <a:srgbClr val="0070C0"/>
              </a:solidFill>
            </a:endParaRPr>
          </a:p>
        </p:txBody>
      </p:sp>
      <p:pic>
        <p:nvPicPr>
          <p:cNvPr id="9" name="Content Placeholder 8">
            <a:extLst>
              <a:ext uri="{FF2B5EF4-FFF2-40B4-BE49-F238E27FC236}">
                <a16:creationId xmlns:a16="http://schemas.microsoft.com/office/drawing/2014/main" id="{FC9050DA-5D54-8A89-C4C1-4461EB065799}"/>
              </a:ext>
            </a:extLst>
          </p:cNvPr>
          <p:cNvPicPr>
            <a:picLocks noGrp="1" noChangeAspect="1"/>
          </p:cNvPicPr>
          <p:nvPr>
            <p:ph idx="1"/>
          </p:nvPr>
        </p:nvPicPr>
        <p:blipFill>
          <a:blip r:embed="rId2"/>
          <a:srcRect/>
          <a:stretch/>
        </p:blipFill>
        <p:spPr>
          <a:xfrm>
            <a:off x="0" y="2093008"/>
            <a:ext cx="12181170" cy="3821912"/>
          </a:xfrm>
          <a:prstGeom prst="rect">
            <a:avLst/>
          </a:prstGeom>
        </p:spPr>
      </p:pic>
      <p:sp>
        <p:nvSpPr>
          <p:cNvPr id="15" name="TextBox 14">
            <a:extLst>
              <a:ext uri="{FF2B5EF4-FFF2-40B4-BE49-F238E27FC236}">
                <a16:creationId xmlns:a16="http://schemas.microsoft.com/office/drawing/2014/main" id="{1CE49B22-F1DB-EBA4-0941-105DC202F13C}"/>
              </a:ext>
            </a:extLst>
          </p:cNvPr>
          <p:cNvSpPr txBox="1"/>
          <p:nvPr/>
        </p:nvSpPr>
        <p:spPr>
          <a:xfrm>
            <a:off x="0" y="2250374"/>
            <a:ext cx="7559040" cy="3507179"/>
          </a:xfrm>
          <a:prstGeom prst="rect">
            <a:avLst/>
          </a:prstGeom>
          <a:noFill/>
        </p:spPr>
        <p:txBody>
          <a:bodyPr wrap="square">
            <a:spAutoFit/>
          </a:bodyPr>
          <a:lstStyle/>
          <a:p>
            <a:pPr>
              <a:lnSpc>
                <a:spcPct val="115000"/>
              </a:lnSpc>
              <a:spcAft>
                <a:spcPts val="1000"/>
              </a:spcAft>
              <a:buNone/>
            </a:pPr>
            <a:r>
              <a:rPr lang="en-US" sz="1800" i="1" dirty="0">
                <a:effectLst/>
                <a:latin typeface="Cambria" panose="02040503050406030204" pitchFamily="18" charset="0"/>
                <a:ea typeface="MS Mincho" panose="02020609040205080304" pitchFamily="49" charset="-128"/>
                <a:cs typeface="Arial" panose="020B0604020202020204" pitchFamily="34" charset="0"/>
              </a:rPr>
              <a:t>The system will use a classical Artificial Intelligence search algorithm called A* (A-Star). This algorithm is commonly used in pathfinding and navigation problems.</a:t>
            </a:r>
          </a:p>
          <a:p>
            <a:pPr>
              <a:lnSpc>
                <a:spcPct val="115000"/>
              </a:lnSpc>
              <a:spcAft>
                <a:spcPts val="1000"/>
              </a:spcAft>
              <a:buNone/>
            </a:pPr>
            <a:r>
              <a:rPr lang="en-US" sz="1800" i="1" dirty="0">
                <a:effectLst/>
                <a:latin typeface="Cambria" panose="02040503050406030204" pitchFamily="18" charset="0"/>
                <a:ea typeface="MS Mincho" panose="02020609040205080304" pitchFamily="49" charset="-128"/>
                <a:cs typeface="Arial" panose="020B0604020202020204" pitchFamily="34" charset="0"/>
              </a:rPr>
              <a:t>The parking lot will be represented as a grid. Each cell represents a possible position for the vehicle. Obstacles such as parked cars will be treated as blocked cells that cannot be crossed.</a:t>
            </a:r>
          </a:p>
          <a:p>
            <a:pPr>
              <a:lnSpc>
                <a:spcPct val="115000"/>
              </a:lnSpc>
              <a:spcAft>
                <a:spcPts val="1000"/>
              </a:spcAft>
              <a:buNone/>
            </a:pPr>
            <a:r>
              <a:rPr lang="en-US" sz="1800" i="1" dirty="0">
                <a:effectLst/>
                <a:latin typeface="Cambria" panose="02040503050406030204" pitchFamily="18" charset="0"/>
                <a:ea typeface="MS Mincho" panose="02020609040205080304" pitchFamily="49" charset="-128"/>
                <a:cs typeface="Arial" panose="020B0604020202020204" pitchFamily="34" charset="0"/>
              </a:rPr>
              <a:t>A* works by evaluating possible paths using a cost function that combines the actual distance traveled and a heuristic estimate of the remaining distance to the goal. In this project, the heuristic function may use Manhattan Distance to estimate how far the vehicle is from the target parking space.</a:t>
            </a: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AEB36F8E-72F6-9543-C2B9-8A58C0D6942F}"/>
                  </a:ext>
                </a:extLst>
              </p:cNvPr>
              <p:cNvSpPr txBox="1"/>
              <p:nvPr/>
            </p:nvSpPr>
            <p:spPr>
              <a:xfrm>
                <a:off x="8762104" y="2250374"/>
                <a:ext cx="1952512" cy="338554"/>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ar-EG" sz="1600" i="1" smtClean="0">
                          <a:solidFill>
                            <a:schemeClr val="bg1"/>
                          </a:solidFill>
                          <a:latin typeface="Cambria Math" panose="02040503050406030204" pitchFamily="18" charset="0"/>
                        </a:rPr>
                        <m:t>𝑓</m:t>
                      </m:r>
                      <m:d>
                        <m:dPr>
                          <m:ctrlPr>
                            <a:rPr lang="ar-EG" sz="1600" i="1">
                              <a:solidFill>
                                <a:schemeClr val="bg1"/>
                              </a:solidFill>
                              <a:latin typeface="Cambria Math" panose="02040503050406030204" pitchFamily="18" charset="0"/>
                            </a:rPr>
                          </m:ctrlPr>
                        </m:dPr>
                        <m:e>
                          <m:r>
                            <a:rPr lang="ar-EG" sz="1600" i="1">
                              <a:solidFill>
                                <a:schemeClr val="bg1"/>
                              </a:solidFill>
                              <a:latin typeface="Cambria Math" panose="02040503050406030204" pitchFamily="18" charset="0"/>
                            </a:rPr>
                            <m:t>𝑛</m:t>
                          </m:r>
                        </m:e>
                      </m:d>
                      <m:r>
                        <a:rPr lang="ar-EG" sz="1600" i="1">
                          <a:solidFill>
                            <a:schemeClr val="bg1"/>
                          </a:solidFill>
                          <a:latin typeface="Cambria Math" panose="02040503050406030204" pitchFamily="18" charset="0"/>
                        </a:rPr>
                        <m:t>=</m:t>
                      </m:r>
                      <m:r>
                        <a:rPr lang="ar-EG" sz="1600" i="1">
                          <a:solidFill>
                            <a:schemeClr val="bg1"/>
                          </a:solidFill>
                          <a:latin typeface="Cambria Math" panose="02040503050406030204" pitchFamily="18" charset="0"/>
                        </a:rPr>
                        <m:t>𝑔</m:t>
                      </m:r>
                      <m:d>
                        <m:dPr>
                          <m:ctrlPr>
                            <a:rPr lang="ar-EG" sz="1600" i="1">
                              <a:solidFill>
                                <a:schemeClr val="bg1"/>
                              </a:solidFill>
                              <a:latin typeface="Cambria Math" panose="02040503050406030204" pitchFamily="18" charset="0"/>
                            </a:rPr>
                          </m:ctrlPr>
                        </m:dPr>
                        <m:e>
                          <m:r>
                            <a:rPr lang="ar-EG" sz="1600" i="1">
                              <a:solidFill>
                                <a:schemeClr val="bg1"/>
                              </a:solidFill>
                              <a:latin typeface="Cambria Math" panose="02040503050406030204" pitchFamily="18" charset="0"/>
                            </a:rPr>
                            <m:t>𝑛</m:t>
                          </m:r>
                        </m:e>
                      </m:d>
                      <m:r>
                        <a:rPr lang="ar-EG" sz="1600" i="1">
                          <a:solidFill>
                            <a:schemeClr val="bg1"/>
                          </a:solidFill>
                          <a:latin typeface="Cambria Math" panose="02040503050406030204" pitchFamily="18" charset="0"/>
                        </a:rPr>
                        <m:t>+</m:t>
                      </m:r>
                      <m:r>
                        <a:rPr lang="ar-EG" sz="1600" i="1">
                          <a:solidFill>
                            <a:schemeClr val="bg1"/>
                          </a:solidFill>
                          <a:latin typeface="Cambria Math" panose="02040503050406030204" pitchFamily="18" charset="0"/>
                        </a:rPr>
                        <m:t>h</m:t>
                      </m:r>
                      <m:d>
                        <m:dPr>
                          <m:ctrlPr>
                            <a:rPr lang="ar-EG" sz="1600" i="1">
                              <a:solidFill>
                                <a:schemeClr val="bg1"/>
                              </a:solidFill>
                              <a:latin typeface="Cambria Math" panose="02040503050406030204" pitchFamily="18" charset="0"/>
                            </a:rPr>
                          </m:ctrlPr>
                        </m:dPr>
                        <m:e>
                          <m:r>
                            <a:rPr lang="ar-EG" sz="1600" i="1">
                              <a:solidFill>
                                <a:schemeClr val="bg1"/>
                              </a:solidFill>
                              <a:latin typeface="Cambria Math" panose="02040503050406030204" pitchFamily="18" charset="0"/>
                            </a:rPr>
                            <m:t>𝑛</m:t>
                          </m:r>
                        </m:e>
                      </m:d>
                    </m:oMath>
                  </m:oMathPara>
                </a14:m>
                <a:endParaRPr lang="ar-EG" sz="1600" dirty="0">
                  <a:solidFill>
                    <a:schemeClr val="bg1"/>
                  </a:solidFill>
                </a:endParaRPr>
              </a:p>
            </p:txBody>
          </p:sp>
        </mc:Choice>
        <mc:Fallback>
          <p:sp>
            <p:nvSpPr>
              <p:cNvPr id="22" name="TextBox 21">
                <a:extLst>
                  <a:ext uri="{FF2B5EF4-FFF2-40B4-BE49-F238E27FC236}">
                    <a16:creationId xmlns:a16="http://schemas.microsoft.com/office/drawing/2014/main" id="{AEB36F8E-72F6-9543-C2B9-8A58C0D6942F}"/>
                  </a:ext>
                </a:extLst>
              </p:cNvPr>
              <p:cNvSpPr txBox="1">
                <a:spLocks noRot="1" noChangeAspect="1" noMove="1" noResize="1" noEditPoints="1" noAdjustHandles="1" noChangeArrowheads="1" noChangeShapeType="1" noTextEdit="1"/>
              </p:cNvSpPr>
              <p:nvPr/>
            </p:nvSpPr>
            <p:spPr>
              <a:xfrm>
                <a:off x="8762104" y="2250374"/>
                <a:ext cx="1952512" cy="338554"/>
              </a:xfrm>
              <a:prstGeom prst="rect">
                <a:avLst/>
              </a:prstGeom>
              <a:blipFill>
                <a:blip r:embed="rId3"/>
                <a:stretch>
                  <a:fillRect b="-10714"/>
                </a:stretch>
              </a:blipFill>
            </p:spPr>
            <p:txBody>
              <a:bodyPr/>
              <a:lstStyle/>
              <a:p>
                <a:r>
                  <a:rPr lang="ar-EG">
                    <a:noFill/>
                  </a:rPr>
                  <a:t> </a:t>
                </a:r>
              </a:p>
            </p:txBody>
          </p:sp>
        </mc:Fallback>
      </mc:AlternateContent>
    </p:spTree>
    <p:extLst>
      <p:ext uri="{BB962C8B-B14F-4D97-AF65-F5344CB8AC3E}">
        <p14:creationId xmlns:p14="http://schemas.microsoft.com/office/powerpoint/2010/main" val="1953922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C557D-8059-A7D0-2B35-F76E40BA2147}"/>
              </a:ext>
            </a:extLst>
          </p:cNvPr>
          <p:cNvSpPr>
            <a:spLocks noGrp="1"/>
          </p:cNvSpPr>
          <p:nvPr>
            <p:ph type="title"/>
          </p:nvPr>
        </p:nvSpPr>
        <p:spPr/>
        <p:txBody>
          <a:bodyPr/>
          <a:lstStyle/>
          <a:p>
            <a:pPr algn="ctr"/>
            <a:r>
              <a:rPr lang="en-US" dirty="0">
                <a:solidFill>
                  <a:srgbClr val="0070C0"/>
                </a:solidFill>
              </a:rPr>
              <a:t>5. PEAS Analysis</a:t>
            </a:r>
            <a:endParaRPr lang="ar-EG" dirty="0">
              <a:solidFill>
                <a:srgbClr val="0070C0"/>
              </a:solidFill>
            </a:endParaRPr>
          </a:p>
        </p:txBody>
      </p:sp>
      <p:pic>
        <p:nvPicPr>
          <p:cNvPr id="5" name="Content Placeholder 4">
            <a:extLst>
              <a:ext uri="{FF2B5EF4-FFF2-40B4-BE49-F238E27FC236}">
                <a16:creationId xmlns:a16="http://schemas.microsoft.com/office/drawing/2014/main" id="{44C692F3-C1D8-432A-7AD8-AD6C2AB1F40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499" t="2135" r="73707" b="-1"/>
          <a:stretch>
            <a:fillRect/>
          </a:stretch>
        </p:blipFill>
        <p:spPr>
          <a:xfrm>
            <a:off x="301215" y="5086636"/>
            <a:ext cx="2054710" cy="1771363"/>
          </a:xfrm>
          <a:prstGeom prst="rect">
            <a:avLst/>
          </a:prstGeom>
        </p:spPr>
      </p:pic>
      <p:graphicFrame>
        <p:nvGraphicFramePr>
          <p:cNvPr id="6" name="Table 5">
            <a:extLst>
              <a:ext uri="{FF2B5EF4-FFF2-40B4-BE49-F238E27FC236}">
                <a16:creationId xmlns:a16="http://schemas.microsoft.com/office/drawing/2014/main" id="{09C0C159-E738-9FE6-2D60-F111A66A49D9}"/>
              </a:ext>
            </a:extLst>
          </p:cNvPr>
          <p:cNvGraphicFramePr>
            <a:graphicFrameLocks noGrp="1"/>
          </p:cNvGraphicFramePr>
          <p:nvPr>
            <p:extLst>
              <p:ext uri="{D42A27DB-BD31-4B8C-83A1-F6EECF244321}">
                <p14:modId xmlns:p14="http://schemas.microsoft.com/office/powerpoint/2010/main" val="1662514021"/>
              </p:ext>
            </p:extLst>
          </p:nvPr>
        </p:nvGraphicFramePr>
        <p:xfrm>
          <a:off x="0" y="1330960"/>
          <a:ext cx="12192000" cy="3717037"/>
        </p:xfrm>
        <a:graphic>
          <a:graphicData uri="http://schemas.openxmlformats.org/drawingml/2006/table">
            <a:tbl>
              <a:tblPr firstRow="1" firstCol="1" bandRow="1">
                <a:tableStyleId>{5C22544A-7EE6-4342-B048-85BDC9FD1C3A}</a:tableStyleId>
              </a:tblPr>
              <a:tblGrid>
                <a:gridCol w="6096000">
                  <a:extLst>
                    <a:ext uri="{9D8B030D-6E8A-4147-A177-3AD203B41FA5}">
                      <a16:colId xmlns:a16="http://schemas.microsoft.com/office/drawing/2014/main" val="1976047300"/>
                    </a:ext>
                  </a:extLst>
                </a:gridCol>
                <a:gridCol w="6096000">
                  <a:extLst>
                    <a:ext uri="{9D8B030D-6E8A-4147-A177-3AD203B41FA5}">
                      <a16:colId xmlns:a16="http://schemas.microsoft.com/office/drawing/2014/main" val="1195314462"/>
                    </a:ext>
                  </a:extLst>
                </a:gridCol>
              </a:tblGrid>
              <a:tr h="327067">
                <a:tc>
                  <a:txBody>
                    <a:bodyPr/>
                    <a:lstStyle/>
                    <a:p>
                      <a:pPr>
                        <a:lnSpc>
                          <a:spcPct val="115000"/>
                        </a:lnSpc>
                        <a:spcAft>
                          <a:spcPts val="1000"/>
                        </a:spcAft>
                        <a:buNone/>
                      </a:pPr>
                      <a:r>
                        <a:rPr lang="en-US" sz="1800">
                          <a:effectLst/>
                        </a:rPr>
                        <a:t>Component</a:t>
                      </a:r>
                      <a:endParaRPr lang="en-US" sz="180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tc>
                  <a:txBody>
                    <a:bodyPr/>
                    <a:lstStyle/>
                    <a:p>
                      <a:pPr>
                        <a:lnSpc>
                          <a:spcPct val="115000"/>
                        </a:lnSpc>
                        <a:spcAft>
                          <a:spcPts val="1000"/>
                        </a:spcAft>
                        <a:buNone/>
                      </a:pPr>
                      <a:r>
                        <a:rPr lang="en-US" sz="1800">
                          <a:effectLst/>
                        </a:rPr>
                        <a:t>Description</a:t>
                      </a:r>
                      <a:endParaRPr lang="en-US" sz="180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3868139792"/>
                  </a:ext>
                </a:extLst>
              </a:tr>
              <a:tr h="1020968">
                <a:tc>
                  <a:txBody>
                    <a:bodyPr/>
                    <a:lstStyle/>
                    <a:p>
                      <a:pPr>
                        <a:lnSpc>
                          <a:spcPct val="115000"/>
                        </a:lnSpc>
                        <a:spcAft>
                          <a:spcPts val="1000"/>
                        </a:spcAft>
                        <a:buNone/>
                      </a:pPr>
                      <a:r>
                        <a:rPr lang="en-US" sz="1800" dirty="0">
                          <a:effectLst/>
                        </a:rPr>
                        <a:t>Performance Measure</a:t>
                      </a:r>
                      <a:endParaRPr lang="en-US" sz="1800" dirty="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tc>
                  <a:txBody>
                    <a:bodyPr/>
                    <a:lstStyle/>
                    <a:p>
                      <a:pPr>
                        <a:lnSpc>
                          <a:spcPct val="115000"/>
                        </a:lnSpc>
                        <a:spcAft>
                          <a:spcPts val="1000"/>
                        </a:spcAft>
                        <a:buNone/>
                      </a:pPr>
                      <a:r>
                        <a:rPr lang="en-US" sz="1800">
                          <a:effectLst/>
                        </a:rPr>
                        <a:t>Safety (zero collisions), accuracy of alignment, time efficiency, and minimal maneuvers.</a:t>
                      </a:r>
                      <a:endParaRPr lang="en-US" sz="180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3729882515"/>
                  </a:ext>
                </a:extLst>
              </a:tr>
              <a:tr h="674017">
                <a:tc>
                  <a:txBody>
                    <a:bodyPr/>
                    <a:lstStyle/>
                    <a:p>
                      <a:pPr>
                        <a:lnSpc>
                          <a:spcPct val="115000"/>
                        </a:lnSpc>
                        <a:spcAft>
                          <a:spcPts val="1000"/>
                        </a:spcAft>
                        <a:buNone/>
                      </a:pPr>
                      <a:r>
                        <a:rPr lang="en-US" sz="1800">
                          <a:effectLst/>
                        </a:rPr>
                        <a:t>Environment</a:t>
                      </a:r>
                      <a:endParaRPr lang="en-US" sz="180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tc>
                  <a:txBody>
                    <a:bodyPr/>
                    <a:lstStyle/>
                    <a:p>
                      <a:pPr>
                        <a:lnSpc>
                          <a:spcPct val="115000"/>
                        </a:lnSpc>
                        <a:spcAft>
                          <a:spcPts val="1000"/>
                        </a:spcAft>
                        <a:buNone/>
                      </a:pPr>
                      <a:r>
                        <a:rPr lang="en-US" sz="1800">
                          <a:effectLst/>
                        </a:rPr>
                        <a:t>Parking lot represented as a grid containing free spaces, obstacles, and parking slots.</a:t>
                      </a:r>
                      <a:endParaRPr lang="en-US" sz="180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678993450"/>
                  </a:ext>
                </a:extLst>
              </a:tr>
              <a:tr h="674017">
                <a:tc>
                  <a:txBody>
                    <a:bodyPr/>
                    <a:lstStyle/>
                    <a:p>
                      <a:pPr>
                        <a:lnSpc>
                          <a:spcPct val="115000"/>
                        </a:lnSpc>
                        <a:spcAft>
                          <a:spcPts val="1000"/>
                        </a:spcAft>
                        <a:buNone/>
                      </a:pPr>
                      <a:r>
                        <a:rPr lang="en-US" sz="1800">
                          <a:effectLst/>
                        </a:rPr>
                        <a:t>Actuators</a:t>
                      </a:r>
                      <a:endParaRPr lang="en-US" sz="180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tc>
                  <a:txBody>
                    <a:bodyPr/>
                    <a:lstStyle/>
                    <a:p>
                      <a:pPr>
                        <a:lnSpc>
                          <a:spcPct val="115000"/>
                        </a:lnSpc>
                        <a:spcAft>
                          <a:spcPts val="1000"/>
                        </a:spcAft>
                        <a:buNone/>
                      </a:pPr>
                      <a:r>
                        <a:rPr lang="en-US" sz="1800" dirty="0">
                          <a:effectLst/>
                        </a:rPr>
                        <a:t>Steering wheel motor, accelerator, brakes, and gear shifter (Forward/Reverse).</a:t>
                      </a:r>
                      <a:endParaRPr lang="en-US" sz="1800" dirty="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443494237"/>
                  </a:ext>
                </a:extLst>
              </a:tr>
              <a:tr h="1020968">
                <a:tc>
                  <a:txBody>
                    <a:bodyPr/>
                    <a:lstStyle/>
                    <a:p>
                      <a:pPr>
                        <a:lnSpc>
                          <a:spcPct val="115000"/>
                        </a:lnSpc>
                        <a:spcAft>
                          <a:spcPts val="1000"/>
                        </a:spcAft>
                        <a:buNone/>
                      </a:pPr>
                      <a:r>
                        <a:rPr lang="en-US" sz="1800">
                          <a:effectLst/>
                        </a:rPr>
                        <a:t>Sensors</a:t>
                      </a:r>
                      <a:endParaRPr lang="en-US" sz="180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tc>
                  <a:txBody>
                    <a:bodyPr/>
                    <a:lstStyle/>
                    <a:p>
                      <a:pPr>
                        <a:lnSpc>
                          <a:spcPct val="115000"/>
                        </a:lnSpc>
                        <a:spcAft>
                          <a:spcPts val="1000"/>
                        </a:spcAft>
                        <a:buNone/>
                      </a:pPr>
                      <a:r>
                        <a:rPr lang="en-US" sz="1800" dirty="0">
                          <a:effectLst/>
                        </a:rPr>
                        <a:t>Ultrasonic sensors (for distance), Cameras (for line detection), and Odometry (to track wheel rotation/position).</a:t>
                      </a:r>
                      <a:endParaRPr lang="en-US" sz="1800" dirty="0">
                        <a:effectLst/>
                        <a:latin typeface="Cambria" panose="02040503050406030204" pitchFamily="18"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1633299579"/>
                  </a:ext>
                </a:extLst>
              </a:tr>
            </a:tbl>
          </a:graphicData>
        </a:graphic>
      </p:graphicFrame>
      <p:pic>
        <p:nvPicPr>
          <p:cNvPr id="7" name="Content Placeholder 4">
            <a:extLst>
              <a:ext uri="{FF2B5EF4-FFF2-40B4-BE49-F238E27FC236}">
                <a16:creationId xmlns:a16="http://schemas.microsoft.com/office/drawing/2014/main" id="{375F15D7-B7DA-B211-3BC7-0F341E589D96}"/>
              </a:ext>
            </a:extLst>
          </p:cNvPr>
          <p:cNvPicPr>
            <a:picLocks noChangeAspect="1"/>
          </p:cNvPicPr>
          <p:nvPr/>
        </p:nvPicPr>
        <p:blipFill>
          <a:blip r:embed="rId3">
            <a:extLst>
              <a:ext uri="{28A0092B-C50C-407E-A947-70E740481C1C}">
                <a14:useLocalDpi xmlns:a14="http://schemas.microsoft.com/office/drawing/2010/main" val="0"/>
              </a:ext>
            </a:extLst>
          </a:blip>
          <a:srcRect l="26735" t="2135" r="51118" b="-1"/>
          <a:stretch>
            <a:fillRect/>
          </a:stretch>
        </p:blipFill>
        <p:spPr>
          <a:xfrm>
            <a:off x="3445136" y="5086637"/>
            <a:ext cx="2054711" cy="1771363"/>
          </a:xfrm>
          <a:prstGeom prst="rect">
            <a:avLst/>
          </a:prstGeom>
        </p:spPr>
      </p:pic>
      <p:pic>
        <p:nvPicPr>
          <p:cNvPr id="8" name="Content Placeholder 4">
            <a:extLst>
              <a:ext uri="{FF2B5EF4-FFF2-40B4-BE49-F238E27FC236}">
                <a16:creationId xmlns:a16="http://schemas.microsoft.com/office/drawing/2014/main" id="{38BCA1D6-59B7-ED04-F93C-ACD0EB9FEB78}"/>
              </a:ext>
            </a:extLst>
          </p:cNvPr>
          <p:cNvPicPr>
            <a:picLocks noChangeAspect="1"/>
          </p:cNvPicPr>
          <p:nvPr/>
        </p:nvPicPr>
        <p:blipFill>
          <a:blip r:embed="rId3">
            <a:extLst>
              <a:ext uri="{28A0092B-C50C-407E-A947-70E740481C1C}">
                <a14:useLocalDpi xmlns:a14="http://schemas.microsoft.com/office/drawing/2010/main" val="0"/>
              </a:ext>
            </a:extLst>
          </a:blip>
          <a:srcRect l="49500" t="2212" r="28588" b="-2212"/>
          <a:stretch>
            <a:fillRect/>
          </a:stretch>
        </p:blipFill>
        <p:spPr>
          <a:xfrm>
            <a:off x="6640606" y="5086637"/>
            <a:ext cx="2054710" cy="1810003"/>
          </a:xfrm>
          <a:prstGeom prst="rect">
            <a:avLst/>
          </a:prstGeom>
        </p:spPr>
      </p:pic>
      <p:pic>
        <p:nvPicPr>
          <p:cNvPr id="9" name="Content Placeholder 4">
            <a:extLst>
              <a:ext uri="{FF2B5EF4-FFF2-40B4-BE49-F238E27FC236}">
                <a16:creationId xmlns:a16="http://schemas.microsoft.com/office/drawing/2014/main" id="{2554555F-01AF-92FB-6A37-7445586C04BB}"/>
              </a:ext>
            </a:extLst>
          </p:cNvPr>
          <p:cNvPicPr>
            <a:picLocks noChangeAspect="1"/>
          </p:cNvPicPr>
          <p:nvPr/>
        </p:nvPicPr>
        <p:blipFill>
          <a:blip r:embed="rId3">
            <a:extLst>
              <a:ext uri="{28A0092B-C50C-407E-A947-70E740481C1C}">
                <a14:useLocalDpi xmlns:a14="http://schemas.microsoft.com/office/drawing/2010/main" val="0"/>
              </a:ext>
            </a:extLst>
          </a:blip>
          <a:srcRect l="71913" t="2135" r="5058" b="-1"/>
          <a:stretch>
            <a:fillRect/>
          </a:stretch>
        </p:blipFill>
        <p:spPr>
          <a:xfrm>
            <a:off x="9836075" y="5086637"/>
            <a:ext cx="2054710" cy="1771363"/>
          </a:xfrm>
          <a:prstGeom prst="rect">
            <a:avLst/>
          </a:prstGeom>
        </p:spPr>
      </p:pic>
    </p:spTree>
    <p:extLst>
      <p:ext uri="{BB962C8B-B14F-4D97-AF65-F5344CB8AC3E}">
        <p14:creationId xmlns:p14="http://schemas.microsoft.com/office/powerpoint/2010/main" val="3230020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FD45F-E0A2-9F94-EEF9-004C0F0A6896}"/>
              </a:ext>
            </a:extLst>
          </p:cNvPr>
          <p:cNvSpPr>
            <a:spLocks noGrp="1"/>
          </p:cNvSpPr>
          <p:nvPr>
            <p:ph type="title"/>
          </p:nvPr>
        </p:nvSpPr>
        <p:spPr/>
        <p:txBody>
          <a:bodyPr/>
          <a:lstStyle/>
          <a:p>
            <a:pPr algn="ctr"/>
            <a:r>
              <a:rPr lang="en-US" dirty="0">
                <a:solidFill>
                  <a:srgbClr val="0070C0"/>
                </a:solidFill>
              </a:rPr>
              <a:t>6. Environment Characteristics (ODESA)</a:t>
            </a:r>
            <a:endParaRPr lang="ar-EG" dirty="0">
              <a:solidFill>
                <a:srgbClr val="0070C0"/>
              </a:solidFill>
            </a:endParaRPr>
          </a:p>
        </p:txBody>
      </p:sp>
      <p:graphicFrame>
        <p:nvGraphicFramePr>
          <p:cNvPr id="11" name="TextBox 6">
            <a:extLst>
              <a:ext uri="{FF2B5EF4-FFF2-40B4-BE49-F238E27FC236}">
                <a16:creationId xmlns:a16="http://schemas.microsoft.com/office/drawing/2014/main" id="{CD45679C-5392-2E59-288B-7344024A9F1C}"/>
              </a:ext>
            </a:extLst>
          </p:cNvPr>
          <p:cNvGraphicFramePr/>
          <p:nvPr>
            <p:extLst>
              <p:ext uri="{D42A27DB-BD31-4B8C-83A1-F6EECF244321}">
                <p14:modId xmlns:p14="http://schemas.microsoft.com/office/powerpoint/2010/main" val="3065473884"/>
              </p:ext>
            </p:extLst>
          </p:nvPr>
        </p:nvGraphicFramePr>
        <p:xfrm>
          <a:off x="330200" y="1516890"/>
          <a:ext cx="11531600" cy="31265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B17F9BE3-1A84-69A7-2568-EB6318F05323}"/>
              </a:ext>
            </a:extLst>
          </p:cNvPr>
          <p:cNvPicPr>
            <a:picLocks noGrp="1" noChangeAspect="1"/>
          </p:cNvPicPr>
          <p:nvPr>
            <p:ph idx="1"/>
          </p:nvPr>
        </p:nvPicPr>
        <p:blipFill>
          <a:blip r:embed="rId7">
            <a:extLst>
              <a:ext uri="{28A0092B-C50C-407E-A947-70E740481C1C}">
                <a14:useLocalDpi xmlns:a14="http://schemas.microsoft.com/office/drawing/2010/main" val="0"/>
              </a:ext>
            </a:extLst>
          </a:blip>
          <a:srcRect l="21083" t="14159" r="67000" b="33166"/>
          <a:stretch>
            <a:fillRect/>
          </a:stretch>
        </p:blipFill>
        <p:spPr>
          <a:xfrm>
            <a:off x="4659808" y="2164080"/>
            <a:ext cx="478394" cy="396240"/>
          </a:xfrm>
          <a:prstGeom prst="rect">
            <a:avLst/>
          </a:prstGeom>
        </p:spPr>
      </p:pic>
      <p:pic>
        <p:nvPicPr>
          <p:cNvPr id="8" name="Content Placeholder 4">
            <a:extLst>
              <a:ext uri="{FF2B5EF4-FFF2-40B4-BE49-F238E27FC236}">
                <a16:creationId xmlns:a16="http://schemas.microsoft.com/office/drawing/2014/main" id="{91A5BB80-3F86-AB33-67BA-E6E153405F68}"/>
              </a:ext>
            </a:extLst>
          </p:cNvPr>
          <p:cNvPicPr>
            <a:picLocks noChangeAspect="1"/>
          </p:cNvPicPr>
          <p:nvPr/>
        </p:nvPicPr>
        <p:blipFill>
          <a:blip r:embed="rId7">
            <a:extLst>
              <a:ext uri="{28A0092B-C50C-407E-A947-70E740481C1C}">
                <a14:useLocalDpi xmlns:a14="http://schemas.microsoft.com/office/drawing/2010/main" val="0"/>
              </a:ext>
            </a:extLst>
          </a:blip>
          <a:srcRect l="85973" t="16001" r="4236" b="42271"/>
          <a:stretch>
            <a:fillRect/>
          </a:stretch>
        </p:blipFill>
        <p:spPr>
          <a:xfrm>
            <a:off x="4659807" y="3565766"/>
            <a:ext cx="478395" cy="396240"/>
          </a:xfrm>
          <a:prstGeom prst="rect">
            <a:avLst/>
          </a:prstGeom>
        </p:spPr>
      </p:pic>
      <p:pic>
        <p:nvPicPr>
          <p:cNvPr id="10" name="Content Placeholder 4">
            <a:extLst>
              <a:ext uri="{FF2B5EF4-FFF2-40B4-BE49-F238E27FC236}">
                <a16:creationId xmlns:a16="http://schemas.microsoft.com/office/drawing/2014/main" id="{AD65C636-D4C6-BFD6-0B9A-4132E48C88DF}"/>
              </a:ext>
            </a:extLst>
          </p:cNvPr>
          <p:cNvPicPr>
            <a:picLocks noChangeAspect="1"/>
          </p:cNvPicPr>
          <p:nvPr/>
        </p:nvPicPr>
        <p:blipFill>
          <a:blip r:embed="rId7">
            <a:extLst>
              <a:ext uri="{28A0092B-C50C-407E-A947-70E740481C1C}">
                <a14:useLocalDpi xmlns:a14="http://schemas.microsoft.com/office/drawing/2010/main" val="0"/>
              </a:ext>
            </a:extLst>
          </a:blip>
          <a:srcRect l="76644" t="20225" r="14007" b="46903"/>
          <a:stretch>
            <a:fillRect/>
          </a:stretch>
        </p:blipFill>
        <p:spPr>
          <a:xfrm flipH="1">
            <a:off x="4717532" y="3874932"/>
            <a:ext cx="362943" cy="174147"/>
          </a:xfrm>
          <a:prstGeom prst="rect">
            <a:avLst/>
          </a:prstGeom>
        </p:spPr>
      </p:pic>
      <p:pic>
        <p:nvPicPr>
          <p:cNvPr id="13" name="Picture 12">
            <a:extLst>
              <a:ext uri="{FF2B5EF4-FFF2-40B4-BE49-F238E27FC236}">
                <a16:creationId xmlns:a16="http://schemas.microsoft.com/office/drawing/2014/main" id="{A1ECA0B9-B822-18B0-1F15-18D09C359997}"/>
              </a:ext>
            </a:extLst>
          </p:cNvPr>
          <p:cNvPicPr>
            <a:picLocks noChangeAspect="1"/>
          </p:cNvPicPr>
          <p:nvPr/>
        </p:nvPicPr>
        <p:blipFill>
          <a:blip r:embed="rId7">
            <a:extLst>
              <a:ext uri="{28A0092B-C50C-407E-A947-70E740481C1C}">
                <a14:useLocalDpi xmlns:a14="http://schemas.microsoft.com/office/drawing/2010/main" val="0"/>
              </a:ext>
            </a:extLst>
          </a:blip>
          <a:srcRect l="36908" t="13316" r="48965" b="33899"/>
          <a:stretch>
            <a:fillRect/>
          </a:stretch>
        </p:blipFill>
        <p:spPr>
          <a:xfrm>
            <a:off x="8396488" y="2141914"/>
            <a:ext cx="445968" cy="418406"/>
          </a:xfrm>
          <a:prstGeom prst="rect">
            <a:avLst/>
          </a:prstGeom>
        </p:spPr>
      </p:pic>
      <p:pic>
        <p:nvPicPr>
          <p:cNvPr id="15" name="Picture 14">
            <a:extLst>
              <a:ext uri="{FF2B5EF4-FFF2-40B4-BE49-F238E27FC236}">
                <a16:creationId xmlns:a16="http://schemas.microsoft.com/office/drawing/2014/main" id="{408EA431-813D-8005-B349-0240355F3F85}"/>
              </a:ext>
            </a:extLst>
          </p:cNvPr>
          <p:cNvPicPr>
            <a:picLocks noChangeAspect="1"/>
          </p:cNvPicPr>
          <p:nvPr/>
        </p:nvPicPr>
        <p:blipFill>
          <a:blip r:embed="rId7">
            <a:extLst>
              <a:ext uri="{28A0092B-C50C-407E-A947-70E740481C1C}">
                <a14:useLocalDpi xmlns:a14="http://schemas.microsoft.com/office/drawing/2010/main" val="0"/>
              </a:ext>
            </a:extLst>
          </a:blip>
          <a:srcRect l="54881" t="7679" r="27649" b="30791"/>
          <a:stretch>
            <a:fillRect/>
          </a:stretch>
        </p:blipFill>
        <p:spPr>
          <a:xfrm>
            <a:off x="924448" y="3608029"/>
            <a:ext cx="513827" cy="396240"/>
          </a:xfrm>
          <a:prstGeom prst="rect">
            <a:avLst/>
          </a:prstGeom>
        </p:spPr>
      </p:pic>
      <p:pic>
        <p:nvPicPr>
          <p:cNvPr id="16" name="Picture 15">
            <a:extLst>
              <a:ext uri="{FF2B5EF4-FFF2-40B4-BE49-F238E27FC236}">
                <a16:creationId xmlns:a16="http://schemas.microsoft.com/office/drawing/2014/main" id="{12C2ED48-1E88-CB01-1859-90305AE0C305}"/>
              </a:ext>
            </a:extLst>
          </p:cNvPr>
          <p:cNvPicPr>
            <a:picLocks noChangeAspect="1"/>
          </p:cNvPicPr>
          <p:nvPr/>
        </p:nvPicPr>
        <p:blipFill>
          <a:blip r:embed="rId7">
            <a:extLst>
              <a:ext uri="{28A0092B-C50C-407E-A947-70E740481C1C}">
                <a14:useLocalDpi xmlns:a14="http://schemas.microsoft.com/office/drawing/2010/main" val="0"/>
              </a:ext>
            </a:extLst>
          </a:blip>
          <a:srcRect l="4345" t="15154" r="84581" b="37090"/>
          <a:stretch>
            <a:fillRect/>
          </a:stretch>
        </p:blipFill>
        <p:spPr>
          <a:xfrm>
            <a:off x="924448" y="2141914"/>
            <a:ext cx="513827" cy="396240"/>
          </a:xfrm>
          <a:prstGeom prst="rect">
            <a:avLst/>
          </a:prstGeom>
        </p:spPr>
      </p:pic>
    </p:spTree>
    <p:extLst>
      <p:ext uri="{BB962C8B-B14F-4D97-AF65-F5344CB8AC3E}">
        <p14:creationId xmlns:p14="http://schemas.microsoft.com/office/powerpoint/2010/main" val="1694934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959D734-893E-8249-D56F-AA0D749662F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880" t="-1" r="12080" b="19530"/>
          <a:stretch>
            <a:fillRect/>
          </a:stretch>
        </p:blipFill>
        <p:spPr>
          <a:xfrm>
            <a:off x="3259566" y="10"/>
            <a:ext cx="8929385" cy="5518663"/>
          </a:xfrm>
          <a:prstGeom prst="rect">
            <a:avLst/>
          </a:prstGeom>
        </p:spPr>
      </p:pic>
      <p:sp>
        <p:nvSpPr>
          <p:cNvPr id="27" name="Rectangle 2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DCABC1-ADEB-B033-58B9-0D645F3BD731}"/>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dirty="0">
                <a:solidFill>
                  <a:srgbClr val="0070C0"/>
                </a:solidFill>
              </a:rPr>
              <a:t>7. Agent type</a:t>
            </a:r>
          </a:p>
        </p:txBody>
      </p:sp>
      <p:sp>
        <p:nvSpPr>
          <p:cNvPr id="7" name="TextBox 6">
            <a:extLst>
              <a:ext uri="{FF2B5EF4-FFF2-40B4-BE49-F238E27FC236}">
                <a16:creationId xmlns:a16="http://schemas.microsoft.com/office/drawing/2014/main" id="{A16B3596-627C-0E15-D3FC-16117CBB7C5B}"/>
              </a:ext>
            </a:extLst>
          </p:cNvPr>
          <p:cNvSpPr txBox="1"/>
          <p:nvPr/>
        </p:nvSpPr>
        <p:spPr>
          <a:xfrm>
            <a:off x="838200" y="2434201"/>
            <a:ext cx="3822189" cy="374276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The Agent Type is: Goal-Based Agent .Reasoning :The agent has a specific Goal (to be parked correctly in the spot). It doesn't just react to the current moment (like a simple reflex agent), but it plans a sequence of actions (pathfinding) and evaluates different moves to reach the final desired state (the target parking spot</a:t>
            </a:r>
          </a:p>
        </p:txBody>
      </p:sp>
    </p:spTree>
    <p:extLst>
      <p:ext uri="{BB962C8B-B14F-4D97-AF65-F5344CB8AC3E}">
        <p14:creationId xmlns:p14="http://schemas.microsoft.com/office/powerpoint/2010/main" val="3620080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TotalTime>
  <Words>614</Words>
  <Application>Microsoft Office PowerPoint</Application>
  <PresentationFormat>Widescreen</PresentationFormat>
  <Paragraphs>39</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Cambria</vt:lpstr>
      <vt:lpstr>Cambria Math</vt:lpstr>
      <vt:lpstr>Office Theme</vt:lpstr>
      <vt:lpstr>PowerPoint Presentation</vt:lpstr>
      <vt:lpstr>1. Project description</vt:lpstr>
      <vt:lpstr>2. Goal and Importance</vt:lpstr>
      <vt:lpstr>3. Related Work</vt:lpstr>
      <vt:lpstr>4. Proposed Algorithm</vt:lpstr>
      <vt:lpstr>5. PEAS Analysis</vt:lpstr>
      <vt:lpstr>6. Environment Characteristics (ODESA)</vt:lpstr>
      <vt:lpstr>7. Agent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Ahmed</dc:creator>
  <cp:lastModifiedBy>Youssef Ahmed</cp:lastModifiedBy>
  <cp:revision>2</cp:revision>
  <dcterms:created xsi:type="dcterms:W3CDTF">2026-03-09T20:47:56Z</dcterms:created>
  <dcterms:modified xsi:type="dcterms:W3CDTF">2026-03-10T00:13:05Z</dcterms:modified>
</cp:coreProperties>
</file>